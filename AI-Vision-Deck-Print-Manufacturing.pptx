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FFFFFF"/>
                </a:solidFill>
                <a:latin typeface="Arial"/>
              </a:defRPr>
            </a:pPr>
            <a:r>
              <a:t>Press uptime % (illustrative)</a:t>
            </a:r>
          </a:p>
        </c:rich>
      </c:tx>
      <c:layout/>
      <c:overlay val="0"/>
    </c:title>
    <c:autoTitleDeleted val="0"/>
    <c:plotArea>
      <c:barChart>
        <c:barDir val="bar"/>
        <c:grouping val="clustered"/>
        <c:ser>
          <c:idx val="0"/>
          <c:order val="0"/>
          <c:tx>
            <c:strRef>
              <c:f>Sheet1!$B$1</c:f>
              <c:strCache>
                <c:ptCount val="1"/>
                <c:pt idx="0">
                  <c:v>Uptime %</c:v>
                </c:pt>
              </c:strCache>
            </c:strRef>
          </c:tx>
          <c:spPr>
            <a:solidFill>
              <a:srgbClr val="5AC4B2"/>
            </a:solidFill>
          </c:spPr>
          <c:cat>
            <c:strRef>
              <c:f>Sheet1!$A$2:$A$7</c:f>
              <c:strCache>
                <c:ptCount val="6"/>
                <c:pt idx="0">
                  <c:v>CD 102-6+L</c:v>
                </c:pt>
                <c:pt idx="1">
                  <c:v>QM 46-2</c:v>
                </c:pt>
                <c:pt idx="2">
                  <c:v>HP 25K</c:v>
                </c:pt>
                <c:pt idx="3">
                  <c:v>Indigo 7R</c:v>
                </c:pt>
                <c:pt idx="4">
                  <c:v>Ricoh C9210</c:v>
                </c:pt>
                <c:pt idx="5">
                  <c:v>Latex 2700</c:v>
                </c:pt>
              </c:strCache>
            </c:strRef>
          </c:cat>
          <c:val>
            <c:numRef>
              <c:f>Sheet1!$B$2:$B$7</c:f>
              <c:numCache>
                <c:formatCode>General</c:formatCode>
                <c:ptCount val="6"/>
                <c:pt idx="0">
                  <c:v>92</c:v>
                </c:pt>
                <c:pt idx="1">
                  <c:v>88</c:v>
                </c:pt>
                <c:pt idx="2">
                  <c:v>90</c:v>
                </c:pt>
                <c:pt idx="3">
                  <c:v>85</c:v>
                </c:pt>
                <c:pt idx="4">
                  <c:v>87</c:v>
                </c:pt>
                <c:pt idx="5">
                  <c:v>83</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900">
                <a:solidFill>
                  <a:srgbClr val="B8BEC4"/>
                </a:solidFill>
                <a:latin typeface="Arial"/>
              </a:defRPr>
            </a:pPr>
          </a:p>
        </c:txPr>
        <c:crossAx val="-2113994440"/>
        <c:crosses val="autoZero"/>
        <c:auto val="1"/>
        <c:lblAlgn val="ctr"/>
        <c:lblOffset val="100"/>
        <c:noMultiLvlLbl val="0"/>
      </c:catAx>
      <c:valAx>
        <c:axId val="-2113994440"/>
        <c:scaling/>
        <c:delete val="0"/>
        <c:axPos val="b"/>
        <c:majorTickMark val="out"/>
        <c:minorTickMark val="none"/>
        <c:tickLblPos val="nextTo"/>
        <c:spPr>
          <a:ln>
            <a:noFill/>
          </a:ln>
        </c:spPr>
        <c:txPr>
          <a:bodyPr/>
          <a:lstStyle/>
          <a:p>
            <a:pPr>
              <a:defRPr sz="900">
                <a:solidFill>
                  <a:srgbClr val="B8BEC4"/>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FFFFFF"/>
                </a:solidFill>
                <a:latin typeface="Arial"/>
              </a:defRPr>
            </a:pPr>
            <a:r>
              <a:t>Makeready minutes — 12-wk trend (illustrative)</a:t>
            </a:r>
          </a:p>
        </c:rich>
      </c:tx>
      <c:layout/>
      <c:overlay val="0"/>
    </c:title>
    <c:autoTitleDeleted val="0"/>
    <c:plotArea>
      <c:lineChart>
        <c:grouping val="standard"/>
        <c:varyColors val="0"/>
        <c:ser>
          <c:idx val="0"/>
          <c:order val="0"/>
          <c:tx>
            <c:strRef>
              <c:f>Sheet1!$B$1</c:f>
              <c:strCache>
                <c:ptCount val="1"/>
                <c:pt idx="0">
                  <c:v>Min</c:v>
                </c:pt>
              </c:strCache>
            </c:strRef>
          </c:tx>
          <c:spPr>
            <a:ln w="38100">
              <a:solidFill>
                <a:srgbClr val="F5923F"/>
              </a:solidFill>
            </a:ln>
          </c:spPr>
          <c:marker>
            <c:symbol val="diamond"/>
            <c:spPr>
              <a:solidFill>
                <a:srgbClr val="F5923F"/>
              </a:solidFill>
            </c:spPr>
          </c:marker>
          <c:cat>
            <c:strRef>
              <c:f>Sheet1!$A$2:$A$13</c:f>
              <c:strCache>
                <c:ptCount val="12"/>
                <c:pt idx="0">
                  <c:v>W1</c:v>
                </c:pt>
                <c:pt idx="1">
                  <c:v>W2</c:v>
                </c:pt>
                <c:pt idx="2">
                  <c:v>W3</c:v>
                </c:pt>
                <c:pt idx="3">
                  <c:v>W4</c:v>
                </c:pt>
                <c:pt idx="4">
                  <c:v>W5</c:v>
                </c:pt>
                <c:pt idx="5">
                  <c:v>W6</c:v>
                </c:pt>
                <c:pt idx="6">
                  <c:v>W7</c:v>
                </c:pt>
                <c:pt idx="7">
                  <c:v>W8</c:v>
                </c:pt>
                <c:pt idx="8">
                  <c:v>W9</c:v>
                </c:pt>
                <c:pt idx="9">
                  <c:v>W10</c:v>
                </c:pt>
                <c:pt idx="10">
                  <c:v>W11</c:v>
                </c:pt>
                <c:pt idx="11">
                  <c:v>W12</c:v>
                </c:pt>
              </c:strCache>
            </c:strRef>
          </c:cat>
          <c:val>
            <c:numRef>
              <c:f>Sheet1!$B$2:$B$13</c:f>
              <c:numCache>
                <c:formatCode>General</c:formatCode>
                <c:ptCount val="12"/>
                <c:pt idx="0">
                  <c:v>58</c:v>
                </c:pt>
                <c:pt idx="1">
                  <c:v>56</c:v>
                </c:pt>
                <c:pt idx="2">
                  <c:v>55</c:v>
                </c:pt>
                <c:pt idx="3">
                  <c:v>53</c:v>
                </c:pt>
                <c:pt idx="4">
                  <c:v>54</c:v>
                </c:pt>
                <c:pt idx="5">
                  <c:v>51</c:v>
                </c:pt>
                <c:pt idx="6">
                  <c:v>50</c:v>
                </c:pt>
                <c:pt idx="7">
                  <c:v>48</c:v>
                </c:pt>
                <c:pt idx="8">
                  <c:v>47</c:v>
                </c:pt>
                <c:pt idx="9">
                  <c:v>46</c:v>
                </c:pt>
                <c:pt idx="10">
                  <c:v>44</c:v>
                </c:pt>
                <c:pt idx="11">
                  <c:v>42</c:v>
                </c:pt>
              </c:numCache>
            </c:numRef>
          </c:val>
          <c:smooth/>
        </c:ser>
        <c:marker val="1"/>
        <c:smooth val="0"/>
        <c:axId val="2118791784"/>
        <c:axId val="2140495176"/>
      </c:lineChart>
      <c:catAx>
        <c:axId val="2118791784"/>
        <c:scaling>
          <c:orientation val="minMax"/>
        </c:scaling>
        <c:delete val="0"/>
        <c:axPos val="b"/>
        <c:majorTickMark val="out"/>
        <c:minorTickMark val="none"/>
        <c:tickLblPos val="nextTo"/>
        <c:spPr>
          <a:ln>
            <a:noFill/>
          </a:ln>
        </c:spPr>
        <c:txPr>
          <a:bodyPr/>
          <a:lstStyle/>
          <a:p>
            <a:pPr>
              <a:defRPr sz="900">
                <a:solidFill>
                  <a:srgbClr val="B8BEC4"/>
                </a:solidFill>
                <a:latin typeface="Arial"/>
              </a:defRPr>
            </a:pPr>
          </a:p>
        </c:txPr>
        <c:crossAx val="2140495176"/>
        <c:crosses val="autoZero"/>
        <c:auto val="1"/>
        <c:lblAlgn val="ctr"/>
        <c:lblOffset val="100"/>
        <c:noMultiLvlLbl val="0"/>
      </c:catAx>
      <c:valAx>
        <c:axId val="2140495176"/>
        <c:scaling/>
        <c:delete val="0"/>
        <c:axPos val="l"/>
        <c:majorTickMark val="out"/>
        <c:minorTickMark val="none"/>
        <c:tickLblPos val="nextTo"/>
        <c:spPr>
          <a:ln>
            <a:noFill/>
          </a:ln>
        </c:spPr>
        <c:txPr>
          <a:bodyPr/>
          <a:lstStyle/>
          <a:p>
            <a:pPr>
              <a:defRPr sz="900">
                <a:solidFill>
                  <a:srgbClr val="B8BEC4"/>
                </a:solidFill>
                <a:latin typeface="Aria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FFFFFF"/>
                </a:solidFill>
                <a:latin typeface="Arial"/>
              </a:defRPr>
            </a:pPr>
            <a:r>
              <a:t>Waste % by press (illustrative)</a:t>
            </a:r>
          </a:p>
        </c:rich>
      </c:tx>
      <c:layout/>
      <c:overlay val="0"/>
    </c:title>
    <c:autoTitleDeleted val="0"/>
    <c:plotArea>
      <c:barChart>
        <c:barDir val="bar"/>
        <c:grouping val="clustered"/>
        <c:ser>
          <c:idx val="0"/>
          <c:order val="0"/>
          <c:tx>
            <c:strRef>
              <c:f>Sheet1!$B$1</c:f>
              <c:strCache>
                <c:ptCount val="1"/>
                <c:pt idx="0">
                  <c:v>Waste %</c:v>
                </c:pt>
              </c:strCache>
            </c:strRef>
          </c:tx>
          <c:spPr>
            <a:solidFill>
              <a:srgbClr val="FFE716"/>
            </a:solidFill>
          </c:spPr>
          <c:cat>
            <c:strRef>
              <c:f>Sheet1!$A$2:$A$7</c:f>
              <c:strCache>
                <c:ptCount val="6"/>
                <c:pt idx="0">
                  <c:v>CD 102-6+L</c:v>
                </c:pt>
                <c:pt idx="1">
                  <c:v>QM 46-2</c:v>
                </c:pt>
                <c:pt idx="2">
                  <c:v>HP 25K</c:v>
                </c:pt>
                <c:pt idx="3">
                  <c:v>Indigo 7R</c:v>
                </c:pt>
                <c:pt idx="4">
                  <c:v>Ricoh C9210</c:v>
                </c:pt>
                <c:pt idx="5">
                  <c:v>Latex 2700</c:v>
                </c:pt>
              </c:strCache>
            </c:strRef>
          </c:cat>
          <c:val>
            <c:numRef>
              <c:f>Sheet1!$B$2:$B$7</c:f>
              <c:numCache>
                <c:formatCode>General</c:formatCode>
                <c:ptCount val="6"/>
                <c:pt idx="0">
                  <c:v>4.2</c:v>
                </c:pt>
                <c:pt idx="1">
                  <c:v>5.1</c:v>
                </c:pt>
                <c:pt idx="2">
                  <c:v>3.8</c:v>
                </c:pt>
                <c:pt idx="3">
                  <c:v>4.9</c:v>
                </c:pt>
                <c:pt idx="4">
                  <c:v>5.4</c:v>
                </c:pt>
                <c:pt idx="5">
                  <c:v>6.0</c:v>
                </c:pt>
              </c:numCache>
            </c:numRef>
          </c:val>
        </c:ser>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900">
                <a:solidFill>
                  <a:srgbClr val="B8BEC4"/>
                </a:solidFill>
                <a:latin typeface="Arial"/>
              </a:defRPr>
            </a:pPr>
          </a:p>
        </c:txPr>
        <c:crossAx val="-2113994440"/>
        <c:crosses val="autoZero"/>
        <c:auto val="1"/>
        <c:lblAlgn val="ctr"/>
        <c:lblOffset val="100"/>
        <c:noMultiLvlLbl val="0"/>
      </c:catAx>
      <c:valAx>
        <c:axId val="-2113994440"/>
        <c:scaling/>
        <c:delete val="0"/>
        <c:axPos val="b"/>
        <c:majorTickMark val="out"/>
        <c:minorTickMark val="none"/>
        <c:tickLblPos val="nextTo"/>
        <c:spPr>
          <a:ln>
            <a:noFill/>
          </a:ln>
        </c:spPr>
        <c:txPr>
          <a:bodyPr/>
          <a:lstStyle/>
          <a:p>
            <a:pPr>
              <a:defRPr sz="900">
                <a:solidFill>
                  <a:srgbClr val="B8BEC4"/>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them for the interview and frame the next 20 minutes: this is my 90-day vision for AI-first IT at a growing manufacturer. I built this from the company's own public newsroom — the awards, the 2026 expansions — so every proposal maps to the real operation. Invite questions anytime; the last slide has the ask.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pitch in one slide: AI earns its keep in print when it prevents waste, shortens makeready, and protects uptime. Every bullet maps to real shop technology — press telemetry, the Prinect/JDF chain, in-line inspection, MIS data. Guardrails last on purpose: AI near client artwork and production OT has to be fenced from day one. Close on the frame line: I'm here for measured business impact, not science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public story: founded 2007, Orlando; 100-150 people across three buildings; Florida's Best Printer 2026; FPA 2026 Silver for Shelf Impact on the pet-nutrition brand pouch. Then the 2026 growth wave from their newsroom — the Versafire LV and third POLAR cutter in April, the Indigo 200K in April, the XL-DR pouching machine in May, the Hudson-Sharp Ares 400-SUP around June, and the third production building announced January 30, 2026. Anchor the thesis: The company is already AI-forward for a mid-size printer — public AI pillars across intelligent printing, prepress, planned workflow, and client tools, plus an internal program connecting core systems, standardizing data, and putting practical AI tools in operations, sales, and finance (Jay Kahn, LinkedIn, Aug 2026), with the CEO as AI Board Champion in YPO's Manufacturing Excellence Network. My job is to take that program from strong pilots to a governed, company-wide architecture — extend what they started, not replace it. Close with the Friday floor-visit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ownership slide: five pillars, and AI automation is the headline, not a side project. Walk each pillar in one line — support and sysadmin cover the mixed environment, infrastructure covers the floor network, documentation makes improvements transferable, training makes AI adoption real. Then the lifecycle: nothing ships straight to production. Discover, pilot, roll out, implement, train, maintain and keep improving. That sequence is how a CEO knows this is managed like a program, not tinkering.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proposal: two tiers, one router. Open-weights models, self-hosted on company hardware, handle anything touching sensitive data — customer artwork, job tickets, Tharstern MIS data, color profiles — because Fortune 500 packaging work can never leak into public tools. Frontier models via API handle heavy reasoning, code generation, and troubleshooting, but only on data that is safe to send. The router decides per task, and the trade-offs are explicit: privacy, latency, cost, capability. Fail closed: anything unclassified resolves to Tier 1, default-deny to the building. This is the architecture I would build in my first year — proposed, not existing. Full detail lives in the companion AI-Vision-UltraPlan document: the architecture recommendation, effort estimates, risk register, and 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 is TypeSafe's System One model, launched September 2026 — a decision model, not a generative LLM. It takes program state plus typed questions — Choice, Score, Noul — and returns structured values with calibrated probabilities over an API. It doesn't draft text, write code, or plan; the LLMs still do that. In my architecture it sits between the tiers as the decision layer — LLMs generate, Jev decides, software governs. The fit here: their existing pillars already route by rules (Switch, Pressero) and optimize locally (PAT, Color Assistant Pro); Jev adds calibrated judgment between those rules and the humans. The example flow: a job ticket arrives, Jev scores its priority and route, the agent acts, a human approves. The honesty, stated out loud: access is waitlist, so the recommendation is a defined 30-day pilot on order triage before anything touches production routing — with an open-weights classifier standing behind it as contingency, not as an open alternative. TypeSafe's privacy claims — no training on customer data, zero data retention — did not appear on their primary sources in my research, so they are unverified: that is why the deck says artwork stays on-prem regardless, and why I would require written data-processing terms before any pilot touches job data. Full detail: AI-Vision-UltraPlan (companion document).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 understand your world' diagram: MIS to job ticket to RIP to plate to press — with the CD 102 worked example — JMF status flowing back and color data feeding the loop. The starred items are flagged honestly: JDF/JMF flow is the typical Prinect/Tharstern setup, but I would confirm it on the floor in Phase 0 rather than assume it. Then the pivot: the IT backbone — domain, VLANs, backup/DR, monitoring — is unverified publicly, so the deck frames it as what I would assess in Phase 0, then own: segment the OT, harden per Heidelberg's own guidance, keep vendor remote access time-boxed and logged, and schedule every patch so a press never stops for IT. Full detail: AI-Vision-UltraPlan (companion document).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harness is the unglamorous part that makes the whole thing defensible: local inference serving, versioned prompts and configs, declared guardrails, audit logging of every AI action, cost tracking per use case, and an eval harness that regression-tests each automation before it touches production. That's what keeps AI safe, measurable, and reversible — and it's what lets me tell a CEO 'we can turn any of this off tomorrow' and mean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concrete agents, each mapped to its floor with inputs, tools, a human approval gate, and a rollback. The preflight agent catches bad files before they reach the CD 102 or the Indigo 200K. The JDF/MIS agent watches the Prinect-to-Tharstern ticket stream (typical setup — to confirm in Phase 0) and flags stalls. The troubleshooting co-pilot helps the on-site admin with log analysis and runbook suggestions — read-only, it never acts. The documentation agent turns ticketing-system resolutions into living runbooks — the specific platform is a Phase 0 confirmation — reviewed before publish. Every one: a human in the loop on anything that ships, and a way back. Full detail: AI-Vision-UltraPlan (companion document).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before showing it: every number here is illustrative — the point is the operating picture, not the values. Three views a production manager would actually want: uptime by press, makeready trend, waste by press — each tied to a measurable outcome. The pipeline panel shows sequencing discipline — one pilot, one in-progress foundation, planned work queued behind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ultraplan, part one — what I would build in my first year. Phase 0 is a four-week audit: map every repetitive task across IT and the floor and baseline the hours. Phase 1 is the foundation: on-prem inference, the model router, audit logging, and OT segmentation for the presses — with change windows that never stop a press run. Phase 2 puts two or three agents live with measured before-and-after. Every phase has an owner — me — plus dependencies, risks, and success criteria in writing. Full detail: AI-Vision-UltraPlan (companion document) — phases, risk register, interview Q&amp;A, and sources.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Phase 3 rolls the proven agents out fleet-wide — the CD 102, the Indigo 200K, the pouch line, prepress — each with its own eval gate. Phase 4 is continuous improvement: evals, a model refresh cadence, and training the team on responsible AI. And the risks, named honestly: no agent ever actuates a press without a human gate; the on-prem tier is the answer to data leakage; open weights plus an API-agnostic router beat vendor lock-in; the eval harness catches model drift. Mitigation owned, not wished for. This is one system, not a menu of options: the hybrid stack on your existing spine, piloted, measured, and owned end to end. Full detail: AI-Vision-UltraPlan (companion document).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 then decide. Ten competitors and near-neighbors, each graded on evidence: Strong means independent or trade-press documentation with a named company and documented outcomes; Moderate means a vendor case study or named announcement; Weak means launch marketing only, no named customer. Every metric on this slide is the claimant’s claim — vendor-reported figures, not audits — and I say so out loud if asked. The pattern across the table: every major vendor automated their own box — make-ready, inline color, file intake — but nobody ships a learning layer spanning estimating to finishing across vendors, or one that gets smarter from the shop’s own history. That is precisely the space this architecture claims. Jev is graded Weak honestly: 14 days old, early access, no named enterprise pilots — which is why the architecture runs on Llama Guard / NeMo Guardrails today and treats Jev as an evaluated plug-in, never a dependency. Full detail, sources, and the evidence grading live in the companion AI-Vision-UltraPlan, section 4g.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personal scorecard — not quoted from anywhere, just what I'd hold myself to in year one. Every line is measurable: tasks automated with hours tracked, AI actually in the daily workflow, environment health, trained users, current docs. The framing is deliberate for a CEO: I manage myself the way I'd manage the program — by outcomes, not activity. If they want different weights on these, that's a great conversation to have in the interview.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every production leader is really asking: what breaks, and who is liable. Vendor access, network segmentation, data privacy, patching legacy consoles, monitored AI with human sign-off — non-negotiable before any model touches production. If they push on timelines, this is where I hold the line: guardrails are the schedule. Honest guardrails are also what make the AI story credible to a CEO — ambition with a seatbelt.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tight and factual: the Vimenca contract role with its real dates, the A+ with its real expiry, mixed-OS and scripting fluency, independent lab practice. No embellishment — credibility is the whole point of the slide. Bridge to the close: this background is why the 90-day plan is realistic, not aspirational.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warm and direct: thank them for their time, restate the ask — I want this role. Leave the contact block up while questions run; the Friday floor visit is the natural next step. If asked about start date: available immediately.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xml"/><Relationship Id="rId6" Type="http://schemas.openxmlformats.org/officeDocument/2006/relationships/hyperlink" Target="https://www.linkedin.com/in/enmanuelmejia" TargetMode="External"/><Relationship Id="rId7" Type="http://schemas.openxmlformats.org/officeDocument/2006/relationships/hyperlink" Target="https://www.linkedin.com/in/enmanuelmeji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pic>
        <p:nvPicPr>
          <p:cNvPr id="2" name="hero_press_loop.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1695" cy="6858000"/>
          </a:xfrm>
          <a:prstGeom prst="rect">
            <a:avLst/>
          </a:prstGeom>
        </p:spPr>
      </p:pic>
      <p:sp>
        <p:nvSpPr>
          <p:cNvPr id="3" name="Rectangle 2"/>
          <p:cNvSpPr/>
          <p:nvPr/>
        </p:nvSpPr>
        <p:spPr>
          <a:xfrm>
            <a:off x="0" y="3749039"/>
            <a:ext cx="12191695" cy="3108960"/>
          </a:xfrm>
          <a:prstGeom prst="rect">
            <a:avLst/>
          </a:prstGeom>
          <a:solidFill>
            <a:srgbClr val="23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977639"/>
            <a:ext cx="9601200" cy="1280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400" b="1">
                <a:solidFill>
                  <a:srgbClr val="FFFFFF"/>
                </a:solidFill>
                <a:latin typeface="Arial"/>
              </a:defRPr>
            </a:pPr>
            <a:r>
              <a:t>AI-First IT for a Growing Manufacturer</a:t>
            </a:r>
          </a:p>
        </p:txBody>
      </p:sp>
      <p:sp>
        <p:nvSpPr>
          <p:cNvPr id="5" name="Rectangle 4"/>
          <p:cNvSpPr/>
          <p:nvPr/>
        </p:nvSpPr>
        <p:spPr>
          <a:xfrm>
            <a:off x="822960" y="5212080"/>
            <a:ext cx="96012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2000" b="0">
                <a:solidFill>
                  <a:srgbClr val="5AC4B2"/>
                </a:solidFill>
                <a:latin typeface="Arial"/>
              </a:defRPr>
            </a:pPr>
            <a:r>
              <a:t>My 90-Day Vision — Enmanuel D. Mejia</a:t>
            </a:r>
          </a:p>
          <a:p>
            <a:pPr algn="l">
              <a:spcBef>
                <a:spcPts val="0"/>
              </a:spcBef>
              <a:spcAft>
                <a:spcPts val="600"/>
              </a:spcAft>
              <a:defRPr sz="1600" b="0">
                <a:solidFill>
                  <a:srgbClr val="B8BEC4"/>
                </a:solidFill>
                <a:latin typeface="Arial"/>
              </a:defRPr>
            </a:pPr>
            <a:r>
              <a:t>Mid-size commercial print manufacturer · October 2026</a:t>
            </a:r>
          </a:p>
        </p:txBody>
      </p:sp>
      <p:sp>
        <p:nvSpPr>
          <p:cNvPr id="6" name="Rectangle 5"/>
          <p:cNvSpPr/>
          <p:nvPr/>
        </p:nvSpPr>
        <p:spPr>
          <a:xfrm>
            <a:off x="822960" y="3886200"/>
            <a:ext cx="1463040" cy="64008"/>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file_circle.png"/>
          <p:cNvPicPr>
            <a:picLocks noChangeAspect="1"/>
          </p:cNvPicPr>
          <p:nvPr/>
        </p:nvPicPr>
        <p:blipFill>
          <a:blip r:embed="rId5"/>
          <a:stretch>
            <a:fillRect/>
          </a:stretch>
        </p:blipFill>
        <p:spPr>
          <a:xfrm>
            <a:off x="9857232" y="5669280"/>
            <a:ext cx="566928" cy="566928"/>
          </a:xfrm>
          <a:prstGeom prst="rect">
            <a:avLst/>
          </a:prstGeom>
        </p:spPr>
      </p:pic>
      <p:pic>
        <p:nvPicPr>
          <p:cNvPr id="8" name="Picture 7" descr="sigil_il.png"/>
          <p:cNvPicPr>
            <a:picLocks noChangeAspect="1"/>
          </p:cNvPicPr>
          <p:nvPr/>
        </p:nvPicPr>
        <p:blipFill>
          <a:blip r:embed="rId6"/>
          <a:stretch>
            <a:fillRect/>
          </a:stretch>
        </p:blipFill>
        <p:spPr>
          <a:xfrm>
            <a:off x="10515600" y="5669280"/>
            <a:ext cx="566928" cy="566928"/>
          </a:xfrm>
          <a:prstGeom prst="rect">
            <a:avLst/>
          </a:prstGeom>
        </p:spPr>
      </p:pic>
      <p:sp>
        <p:nvSpPr>
          <p:cNvPr id="9" name="Rectangle 8"/>
          <p:cNvSpPr/>
          <p:nvPr/>
        </p:nvSpPr>
        <p:spPr>
          <a:xfrm>
            <a:off x="9418320" y="6291072"/>
            <a:ext cx="178308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950" b="0">
                <a:solidFill>
                  <a:srgbClr val="B8BEC4"/>
                </a:solidFill>
                <a:latin typeface="Arial"/>
              </a:defRPr>
            </a:pPr>
            <a:r>
              <a:t>Created by Interstitium Labs</a:t>
            </a:r>
          </a:p>
        </p:txBody>
      </p:sp>
      <p:sp>
        <p:nvSpPr>
          <p:cNvPr id="10" name="Rounded Rectangle 9"/>
          <p:cNvSpPr/>
          <p:nvPr/>
        </p:nvSpPr>
        <p:spPr>
          <a:xfrm>
            <a:off x="9646920" y="256032"/>
            <a:ext cx="1920240" cy="9601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terstitium-sigil.png"/>
          <p:cNvPicPr>
            <a:picLocks noChangeAspect="1"/>
          </p:cNvPicPr>
          <p:nvPr/>
        </p:nvPicPr>
        <p:blipFill>
          <a:blip r:embed="rId7"/>
          <a:stretch>
            <a:fillRect/>
          </a:stretch>
        </p:blipFill>
        <p:spPr>
          <a:xfrm>
            <a:off x="9738360" y="329184"/>
            <a:ext cx="1737360" cy="813816"/>
          </a:xfrm>
          <a:prstGeom prst="rect">
            <a:avLst/>
          </a:prstGeom>
        </p:spPr>
      </p:pic>
      <p:sp>
        <p:nvSpPr>
          <p:cNvPr id="12" name="Rectangle 11"/>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 / 17</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THE OPPORTUNITY</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Print + packaging manufacturing meets AI</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2 / 17</a:t>
            </a:r>
          </a:p>
        </p:txBody>
      </p:sp>
      <p:sp>
        <p:nvSpPr>
          <p:cNvPr id="6" name="Rounded Rectangle 5"/>
          <p:cNvSpPr/>
          <p:nvPr/>
        </p:nvSpPr>
        <p:spPr>
          <a:xfrm>
            <a:off x="640080" y="1965960"/>
            <a:ext cx="10881360" cy="7772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Predictive maintenance —  </a:t>
            </a:r>
            <a:r>
              <a:rPr sz="1600" b="0">
                <a:solidFill>
                  <a:srgbClr val="FFFFFF"/>
                </a:solidFill>
                <a:latin typeface="Arial"/>
              </a:rPr>
              <a:t>press telemetry can flag bearing, roller, and blanket wear before it costs a run.</a:t>
            </a:r>
          </a:p>
        </p:txBody>
      </p:sp>
      <p:sp>
        <p:nvSpPr>
          <p:cNvPr id="7" name="Rectangle 6"/>
          <p:cNvSpPr/>
          <p:nvPr/>
        </p:nvSpPr>
        <p:spPr>
          <a:xfrm>
            <a:off x="640080" y="1965960"/>
            <a:ext cx="82296" cy="77724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834639"/>
            <a:ext cx="10881360" cy="7772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Prepress automation —  </a:t>
            </a:r>
            <a:r>
              <a:rPr sz="1600" b="0">
                <a:solidFill>
                  <a:srgbClr val="FFFFFF"/>
                </a:solidFill>
                <a:latin typeface="Arial"/>
              </a:rPr>
              <a:t>the job data already flowing from MIS to prepress can drive preflight, imposition checks, and plate release with fewer touches.</a:t>
            </a:r>
          </a:p>
        </p:txBody>
      </p:sp>
      <p:sp>
        <p:nvSpPr>
          <p:cNvPr id="9" name="Rectangle 8"/>
          <p:cNvSpPr/>
          <p:nvPr/>
        </p:nvSpPr>
        <p:spPr>
          <a:xfrm>
            <a:off x="640080" y="2834639"/>
            <a:ext cx="82296" cy="777240"/>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3703320"/>
            <a:ext cx="10881360" cy="7772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Vision-based print inspection —  </a:t>
            </a:r>
            <a:r>
              <a:rPr sz="1600" b="0">
                <a:solidFill>
                  <a:srgbClr val="FFFFFF"/>
                </a:solidFill>
                <a:latin typeface="Arial"/>
              </a:rPr>
              <a:t>a camera plus a model at the delivery end catches color and register drift in-line, before waste piles up.</a:t>
            </a:r>
          </a:p>
        </p:txBody>
      </p:sp>
      <p:sp>
        <p:nvSpPr>
          <p:cNvPr id="11" name="Rectangle 10"/>
          <p:cNvSpPr/>
          <p:nvPr/>
        </p:nvSpPr>
        <p:spPr>
          <a:xfrm>
            <a:off x="640080" y="3703320"/>
            <a:ext cx="82296" cy="777240"/>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4572000"/>
            <a:ext cx="10881360" cy="7772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Standardized job data —  </a:t>
            </a:r>
            <a:r>
              <a:rPr sz="1600" b="0">
                <a:solidFill>
                  <a:srgbClr val="FFFFFF"/>
                </a:solidFill>
                <a:latin typeface="Arial"/>
              </a:rPr>
              <a:t>clean, normalized data across the MIS and the floor is what makes every later model trustworthy. Garbage in, garbage out.</a:t>
            </a:r>
          </a:p>
        </p:txBody>
      </p:sp>
      <p:sp>
        <p:nvSpPr>
          <p:cNvPr id="13" name="Rectangle 12"/>
          <p:cNvSpPr/>
          <p:nvPr/>
        </p:nvSpPr>
        <p:spPr>
          <a:xfrm>
            <a:off x="640080" y="4572000"/>
            <a:ext cx="82296" cy="77724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5440680"/>
            <a:ext cx="10881360" cy="7772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Responsible-AI guardrails —  </a:t>
            </a:r>
            <a:r>
              <a:rPr sz="1600" b="0">
                <a:solidFill>
                  <a:srgbClr val="FFFFFF"/>
                </a:solidFill>
                <a:latin typeface="Arial"/>
              </a:rPr>
              <a:t>no client artwork in public tools, segmented OT, and a human in the loop on every decision that ships.</a:t>
            </a:r>
          </a:p>
        </p:txBody>
      </p:sp>
      <p:sp>
        <p:nvSpPr>
          <p:cNvPr id="15" name="Rectangle 14"/>
          <p:cNvSpPr/>
          <p:nvPr/>
        </p:nvSpPr>
        <p:spPr>
          <a:xfrm>
            <a:off x="640080" y="5440680"/>
            <a:ext cx="82296" cy="777240"/>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6355080"/>
            <a:ext cx="10881360" cy="384048"/>
          </a:xfrm>
          <a:prstGeom prst="roundRect">
            <a:avLst>
              <a:gd name="adj" fmla="val 25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FFE716"/>
                </a:solidFill>
                <a:latin typeface="Arial"/>
              </a:defRPr>
            </a:pPr>
            <a:r>
              <a:t>The win: measurable operational impact — not experiments.</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8"/>
                          </p:tgtEl>
                        </p:cond>
                      </p:stCondLst>
                      <p:childTnLst>
                        <p:par>
                          <p:cTn id="1007" fill="hold">
                            <p:childTnLst>
                              <p:set>
                                <p:cBhvr>
                                  <p:cTn id="1008" dur="0.001" fill="hold"/>
                                  <p:tgtEl>
                                    <p:spTgt spid="8"/>
                                  </p:tgtEl>
                                </p:cBhvr>
                                <p:to>
                                  <p:strVal val="visible"/>
                                </p:to>
                              </p:set>
                            </p:childTnLst>
                          </p:cTn>
                        </p:par>
                      </p:childTnLst>
                    </p:cTn>
                  </p:par>
                  <p:par>
                    <p:cTn id="1009" fill="hold">
                      <p:stCondLst>
                        <p:cond delay="indefinite" evt="onClick">
                          <p:tgtEl>
                            <p:spTgt spid="10"/>
                          </p:tgtEl>
                        </p:cond>
                      </p:stCondLst>
                      <p:childTnLst>
                        <p:par>
                          <p:cTn id="1010" fill="hold">
                            <p:childTnLst>
                              <p:set>
                                <p:cBhvr>
                                  <p:cTn id="1011" dur="0.001" fill="hold"/>
                                  <p:tgtEl>
                                    <p:spTgt spid="10"/>
                                  </p:tgtEl>
                                </p:cBhvr>
                                <p:to>
                                  <p:strVal val="visible"/>
                                </p:to>
                              </p:set>
                            </p:childTnLst>
                          </p:cTn>
                        </p:par>
                      </p:childTnLst>
                    </p:cTn>
                  </p:par>
                  <p:par>
                    <p:cTn id="1012" fill="hold">
                      <p:stCondLst>
                        <p:cond delay="indefinite" evt="onClick">
                          <p:tgtEl>
                            <p:spTgt spid="12"/>
                          </p:tgtEl>
                        </p:cond>
                      </p:stCondLst>
                      <p:childTnLst>
                        <p:par>
                          <p:cTn id="1013" fill="hold">
                            <p:childTnLst>
                              <p:set>
                                <p:cBhvr>
                                  <p:cTn id="1014" dur="0.001" fill="hold"/>
                                  <p:tgtEl>
                                    <p:spTgt spid="12"/>
                                  </p:tgtEl>
                                </p:cBhvr>
                                <p:to>
                                  <p:strVal val="visible"/>
                                </p:to>
                              </p:set>
                            </p:childTnLst>
                          </p:cTn>
                        </p:par>
                      </p:childTnLst>
                    </p:cTn>
                  </p:par>
                  <p:par>
                    <p:cTn id="1015" fill="hold">
                      <p:stCondLst>
                        <p:cond delay="indefinite" evt="onClick">
                          <p:tgtEl>
                            <p:spTgt spid="14"/>
                          </p:tgtEl>
                        </p:cond>
                      </p:stCondLst>
                      <p:childTnLst>
                        <p:par>
                          <p:cTn id="1016" fill="hold">
                            <p:childTnLst>
                              <p:set>
                                <p:cBhvr>
                                  <p:cTn id="1017" dur="0.001" fill="hold"/>
                                  <p:tgtEl>
                                    <p:spTgt spid="14"/>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8" grpId="0" build="p"/>
      <p:bldP spid="10" grpId="0" build="p"/>
      <p:bldP spid="12" grpId="0" build="p"/>
      <p:bldP spid="14" grpId="0" build="p"/>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YOUR OPERATION, AS I UNDERSTAND IT</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From the company's public newsroom</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3 / 17</a:t>
            </a:r>
          </a:p>
        </p:txBody>
      </p:sp>
      <p:sp>
        <p:nvSpPr>
          <p:cNvPr id="6" name="Rounded Rectangle 5"/>
          <p:cNvSpPr/>
          <p:nvPr/>
        </p:nvSpPr>
        <p:spPr>
          <a:xfrm>
            <a:off x="640080" y="1828800"/>
            <a:ext cx="5212080" cy="306324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938528"/>
            <a:ext cx="47548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1">
                <a:solidFill>
                  <a:srgbClr val="5AC4B2"/>
                </a:solidFill>
                <a:latin typeface="Arial"/>
              </a:defRPr>
            </a:pPr>
            <a:r>
              <a:t>THE COMPANY</a:t>
            </a:r>
          </a:p>
        </p:txBody>
      </p:sp>
      <p:sp>
        <p:nvSpPr>
          <p:cNvPr id="8" name="Rectangle 7"/>
          <p:cNvSpPr/>
          <p:nvPr/>
        </p:nvSpPr>
        <p:spPr>
          <a:xfrm>
            <a:off x="868680" y="2359152"/>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0">
                <a:solidFill>
                  <a:srgbClr val="FFFFFF"/>
                </a:solidFill>
                <a:latin typeface="Arial"/>
              </a:defRPr>
            </a:pPr>
            <a:r>
              <a:t>▪  Commercial print &amp; packaging manufacturer — Orlando, FL; founded 2007</a:t>
            </a:r>
          </a:p>
        </p:txBody>
      </p:sp>
      <p:sp>
        <p:nvSpPr>
          <p:cNvPr id="9" name="Rectangle 8"/>
          <p:cNvSpPr/>
          <p:nvPr/>
        </p:nvSpPr>
        <p:spPr>
          <a:xfrm>
            <a:off x="868680" y="2843784"/>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0">
                <a:solidFill>
                  <a:srgbClr val="FFFFFF"/>
                </a:solidFill>
                <a:latin typeface="Arial"/>
              </a:defRPr>
            </a:pPr>
            <a:r>
              <a:t>▪  100–150 employees; three adjacent production buildings</a:t>
            </a:r>
          </a:p>
        </p:txBody>
      </p:sp>
      <p:sp>
        <p:nvSpPr>
          <p:cNvPr id="10" name="Rectangle 9"/>
          <p:cNvSpPr/>
          <p:nvPr/>
        </p:nvSpPr>
        <p:spPr>
          <a:xfrm>
            <a:off x="868680" y="3328416"/>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0">
                <a:solidFill>
                  <a:srgbClr val="FFFFFF"/>
                </a:solidFill>
                <a:latin typeface="Arial"/>
              </a:defRPr>
            </a:pPr>
            <a:r>
              <a:t>▪  Florida's Best Printer 2026 (Florida Print Awards)</a:t>
            </a:r>
          </a:p>
        </p:txBody>
      </p:sp>
      <p:sp>
        <p:nvSpPr>
          <p:cNvPr id="11" name="Rectangle 10"/>
          <p:cNvSpPr/>
          <p:nvPr/>
        </p:nvSpPr>
        <p:spPr>
          <a:xfrm>
            <a:off x="868680" y="3813048"/>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0">
                <a:solidFill>
                  <a:srgbClr val="FFFFFF"/>
                </a:solidFill>
                <a:latin typeface="Arial"/>
              </a:defRPr>
            </a:pPr>
            <a:r>
              <a:t>▪  FPA 2026 Silver, Shelf Impact — pet-nutrition brand pouch</a:t>
            </a:r>
          </a:p>
        </p:txBody>
      </p:sp>
      <p:sp>
        <p:nvSpPr>
          <p:cNvPr id="12" name="Rectangle 11"/>
          <p:cNvSpPr/>
          <p:nvPr/>
        </p:nvSpPr>
        <p:spPr>
          <a:xfrm>
            <a:off x="868680" y="4297680"/>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0">
                <a:solidFill>
                  <a:srgbClr val="FFFFFF"/>
                </a:solidFill>
                <a:latin typeface="Arial"/>
              </a:defRPr>
            </a:pPr>
            <a:r>
              <a:t>▪  CEO an AI Board Champion in YPO's Manufacturing Excellence Network</a:t>
            </a:r>
          </a:p>
        </p:txBody>
      </p:sp>
      <p:sp>
        <p:nvSpPr>
          <p:cNvPr id="13" name="Rounded Rectangle 12"/>
          <p:cNvSpPr/>
          <p:nvPr/>
        </p:nvSpPr>
        <p:spPr>
          <a:xfrm>
            <a:off x="6309360" y="1828800"/>
            <a:ext cx="5212080" cy="306324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37960" y="1938528"/>
            <a:ext cx="47548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1">
                <a:solidFill>
                  <a:srgbClr val="F5923F"/>
                </a:solidFill>
                <a:latin typeface="Arial"/>
              </a:defRPr>
            </a:pPr>
            <a:r>
              <a:t>THE 2026 GROWTH WAVE — FROM YOUR NEWSROOM</a:t>
            </a:r>
          </a:p>
        </p:txBody>
      </p:sp>
      <p:sp>
        <p:nvSpPr>
          <p:cNvPr id="15" name="Rectangle 14"/>
          <p:cNvSpPr/>
          <p:nvPr/>
        </p:nvSpPr>
        <p:spPr>
          <a:xfrm>
            <a:off x="6537960" y="2359152"/>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Heidelberg Versafire LV + third POLAR cutter — announced April 2026</a:t>
            </a:r>
          </a:p>
        </p:txBody>
      </p:sp>
      <p:sp>
        <p:nvSpPr>
          <p:cNvPr id="16" name="Rectangle 15"/>
          <p:cNvSpPr/>
          <p:nvPr/>
        </p:nvSpPr>
        <p:spPr>
          <a:xfrm>
            <a:off x="6537960" y="2779776"/>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HP Indigo 200K digital press — announced April 2026</a:t>
            </a:r>
          </a:p>
        </p:txBody>
      </p:sp>
      <p:sp>
        <p:nvSpPr>
          <p:cNvPr id="17" name="Rectangle 16"/>
          <p:cNvSpPr/>
          <p:nvPr/>
        </p:nvSpPr>
        <p:spPr>
          <a:xfrm>
            <a:off x="6537960" y="3200400"/>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Sun Centre XL-DR pouching machine — announced May 2026</a:t>
            </a:r>
          </a:p>
        </p:txBody>
      </p:sp>
      <p:sp>
        <p:nvSpPr>
          <p:cNvPr id="18" name="Rectangle 17"/>
          <p:cNvSpPr/>
          <p:nvPr/>
        </p:nvSpPr>
        <p:spPr>
          <a:xfrm>
            <a:off x="6537960" y="3621024"/>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Hudson-Sharp Ares 400-SUP, custom dual registration — ~June 2026</a:t>
            </a:r>
          </a:p>
        </p:txBody>
      </p:sp>
      <p:sp>
        <p:nvSpPr>
          <p:cNvPr id="19" name="Rectangle 18"/>
          <p:cNvSpPr/>
          <p:nvPr/>
        </p:nvSpPr>
        <p:spPr>
          <a:xfrm>
            <a:off x="6537960" y="4041648"/>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Third building: 15,000 sq ft, folding cartons + inline carton camera — announced January 2026</a:t>
            </a:r>
          </a:p>
        </p:txBody>
      </p:sp>
      <p:sp>
        <p:nvSpPr>
          <p:cNvPr id="20" name="Rectangle 19"/>
          <p:cNvSpPr/>
          <p:nvPr/>
        </p:nvSpPr>
        <p:spPr>
          <a:xfrm>
            <a:off x="6537960" y="4462272"/>
            <a:ext cx="475488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Heidelberg Speedmaster CD 102-6+L (6-color 40″, inline coater) — the worked example in this deck</a:t>
            </a:r>
          </a:p>
        </p:txBody>
      </p:sp>
      <p:sp>
        <p:nvSpPr>
          <p:cNvPr id="21" name="Rounded Rectangle 20"/>
          <p:cNvSpPr/>
          <p:nvPr/>
        </p:nvSpPr>
        <p:spPr>
          <a:xfrm>
            <a:off x="640080" y="4983480"/>
            <a:ext cx="10881360" cy="1143000"/>
          </a:xfrm>
          <a:prstGeom prst="roundRect">
            <a:avLst>
              <a:gd name="adj" fmla="val 8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400" b="0">
                <a:solidFill>
                  <a:srgbClr val="FFFFFF"/>
                </a:solidFill>
                <a:latin typeface="Arial"/>
              </a:defRPr>
            </a:pPr>
            <a:r>
              <a:rPr sz="1400" b="1">
                <a:solidFill>
                  <a:srgbClr val="FFE716"/>
                </a:solidFill>
                <a:latin typeface="Arial"/>
              </a:rPr>
              <a:t>THE THESIS — </a:t>
            </a:r>
            <a:r>
              <a:rPr sz="1400" b="0">
                <a:solidFill>
                  <a:srgbClr val="FFFFFF"/>
                </a:solidFill>
                <a:latin typeface="Arial"/>
              </a:rPr>
              <a:t>The company is already AI-forward for a mid-size printer. My job: take that program from strong pilots to a governed, company-wide architecture.</a:t>
            </a:r>
          </a:p>
          <a:p>
            <a:pPr algn="l">
              <a:spcBef>
                <a:spcPts val="0"/>
              </a:spcBef>
              <a:spcAft>
                <a:spcPts val="600"/>
              </a:spcAft>
              <a:defRPr sz="1250" b="0">
                <a:solidFill>
                  <a:srgbClr val="B8BEC4"/>
                </a:solidFill>
                <a:latin typeface="Arial"/>
              </a:defRPr>
            </a:pPr>
            <a:r>
              <a:t>Your public AI pillars — Heidelberg Color Assistant Pro, HP onboard AI/ML, Signa Station, Prinect PAT (13,000+ connected presses), Enfocus Switch, Aleyant Pressero with AI-driven job routing — plus the internal program connecting core systems (Jay Kahn, LinkedIn, Aug 2026).</a:t>
            </a:r>
          </a:p>
          <a:p>
            <a:r>
              <a:rPr sz="1300" b="1">
                <a:solidFill>
                  <a:srgbClr val="FFE716"/>
                </a:solidFill>
                <a:latin typeface="Arial"/>
              </a:rPr>
              <a:t>Interview question for Friday: </a:t>
            </a:r>
            <a:r>
              <a:rPr sz="1300" b="0">
                <a:solidFill>
                  <a:srgbClr val="FFFFFF"/>
                </a:solidFill>
                <a:latin typeface="Arial"/>
              </a:rPr>
              <a:t>I'd love to confirm the 2026 additions on the production floor.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HOW I'D OWN IT</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Five pillars, one lifecycle</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4 / 17</a:t>
            </a:r>
          </a:p>
        </p:txBody>
      </p:sp>
      <p:sp>
        <p:nvSpPr>
          <p:cNvPr id="6" name="Rounded Rectangle 5"/>
          <p:cNvSpPr/>
          <p:nvPr/>
        </p:nvSpPr>
        <p:spPr>
          <a:xfrm>
            <a:off x="640080" y="1874519"/>
            <a:ext cx="2048256" cy="2788920"/>
          </a:xfrm>
          <a:prstGeom prst="roundRect">
            <a:avLst>
              <a:gd name="adj" fmla="val 6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74519"/>
            <a:ext cx="2048256"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2103120"/>
            <a:ext cx="1755648"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5AC4B2"/>
                </a:solidFill>
                <a:latin typeface="Arial"/>
              </a:defRPr>
            </a:pPr>
            <a:r>
              <a:t>1 · AI-DRIVEN WORKFLOW &amp; AUTOMATION</a:t>
            </a:r>
          </a:p>
        </p:txBody>
      </p:sp>
      <p:sp>
        <p:nvSpPr>
          <p:cNvPr id="9" name="Rectangle 8"/>
          <p:cNvSpPr/>
          <p:nvPr/>
        </p:nvSpPr>
        <p:spPr>
          <a:xfrm>
            <a:off x="786384" y="3063240"/>
            <a:ext cx="1755648" cy="1463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The headline. Hunt repetitive work and automate it with AI that proves its value.</a:t>
            </a:r>
          </a:p>
        </p:txBody>
      </p:sp>
      <p:sp>
        <p:nvSpPr>
          <p:cNvPr id="10" name="Rounded Rectangle 9"/>
          <p:cNvSpPr/>
          <p:nvPr/>
        </p:nvSpPr>
        <p:spPr>
          <a:xfrm>
            <a:off x="2816352" y="1874519"/>
            <a:ext cx="2048256" cy="2788920"/>
          </a:xfrm>
          <a:prstGeom prst="roundRect">
            <a:avLst>
              <a:gd name="adj" fmla="val 6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16352" y="1874519"/>
            <a:ext cx="2048256" cy="82296"/>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62656" y="2103120"/>
            <a:ext cx="1755648"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5923F"/>
                </a:solidFill>
                <a:latin typeface="Arial"/>
              </a:defRPr>
            </a:pPr>
            <a:r>
              <a:t>2 · TECHNICAL SUPPORT &amp; SYSTEM ADMINISTRATION</a:t>
            </a:r>
          </a:p>
        </p:txBody>
      </p:sp>
      <p:sp>
        <p:nvSpPr>
          <p:cNvPr id="13" name="Rectangle 12"/>
          <p:cNvSpPr/>
          <p:nvPr/>
        </p:nvSpPr>
        <p:spPr>
          <a:xfrm>
            <a:off x="2962656" y="3063240"/>
            <a:ext cx="1755648" cy="1463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Mixed Windows/Mac/Linux/Windows Server, AD/LDAP, patching, backups — PowerShell + Bash fluent.</a:t>
            </a:r>
          </a:p>
        </p:txBody>
      </p:sp>
      <p:sp>
        <p:nvSpPr>
          <p:cNvPr id="14" name="Rounded Rectangle 13"/>
          <p:cNvSpPr/>
          <p:nvPr/>
        </p:nvSpPr>
        <p:spPr>
          <a:xfrm>
            <a:off x="4992624" y="1874519"/>
            <a:ext cx="2048256" cy="2788920"/>
          </a:xfrm>
          <a:prstGeom prst="roundRect">
            <a:avLst>
              <a:gd name="adj" fmla="val 6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92624" y="1874519"/>
            <a:ext cx="2048256" cy="82296"/>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38928" y="2103120"/>
            <a:ext cx="1755648"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FE716"/>
                </a:solidFill>
                <a:latin typeface="Arial"/>
              </a:defRPr>
            </a:pPr>
            <a:r>
              <a:t>3 · INFRASTRUCTURE &amp; NETWORKING</a:t>
            </a:r>
          </a:p>
        </p:txBody>
      </p:sp>
      <p:sp>
        <p:nvSpPr>
          <p:cNvPr id="17" name="Rectangle 16"/>
          <p:cNvSpPr/>
          <p:nvPr/>
        </p:nvSpPr>
        <p:spPr>
          <a:xfrm>
            <a:off x="5138928" y="3063240"/>
            <a:ext cx="1755648" cy="1463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Hardwired production-floor connections plus office systems — segmented and reliable.</a:t>
            </a:r>
          </a:p>
        </p:txBody>
      </p:sp>
      <p:sp>
        <p:nvSpPr>
          <p:cNvPr id="18" name="Rounded Rectangle 17"/>
          <p:cNvSpPr/>
          <p:nvPr/>
        </p:nvSpPr>
        <p:spPr>
          <a:xfrm>
            <a:off x="7168896" y="1874519"/>
            <a:ext cx="2048256" cy="2788920"/>
          </a:xfrm>
          <a:prstGeom prst="roundRect">
            <a:avLst>
              <a:gd name="adj" fmla="val 6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68896" y="1874519"/>
            <a:ext cx="2048256"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0" y="2103120"/>
            <a:ext cx="1755648"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5AC4B2"/>
                </a:solidFill>
                <a:latin typeface="Arial"/>
              </a:defRPr>
            </a:pPr>
            <a:r>
              <a:t>4 · DOCUMENTATION &amp; PROCESS IMPROVEMENT</a:t>
            </a:r>
          </a:p>
        </p:txBody>
      </p:sp>
      <p:sp>
        <p:nvSpPr>
          <p:cNvPr id="21" name="Rectangle 20"/>
          <p:cNvSpPr/>
          <p:nvPr/>
        </p:nvSpPr>
        <p:spPr>
          <a:xfrm>
            <a:off x="7315200" y="3063240"/>
            <a:ext cx="1755648" cy="1463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Ticketing discipline like JIRA; docs that make improvements stick and transfer.</a:t>
            </a:r>
          </a:p>
        </p:txBody>
      </p:sp>
      <p:sp>
        <p:nvSpPr>
          <p:cNvPr id="22" name="Rounded Rectangle 21"/>
          <p:cNvSpPr/>
          <p:nvPr/>
        </p:nvSpPr>
        <p:spPr>
          <a:xfrm>
            <a:off x="9345167" y="1874519"/>
            <a:ext cx="2048256" cy="2788920"/>
          </a:xfrm>
          <a:prstGeom prst="roundRect">
            <a:avLst>
              <a:gd name="adj" fmla="val 6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345167" y="1874519"/>
            <a:ext cx="2048256" cy="82296"/>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491471" y="2103120"/>
            <a:ext cx="1755648"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5923F"/>
                </a:solidFill>
                <a:latin typeface="Arial"/>
              </a:defRPr>
            </a:pPr>
            <a:r>
              <a:t>5 · END-USER TRAINING</a:t>
            </a:r>
          </a:p>
        </p:txBody>
      </p:sp>
      <p:sp>
        <p:nvSpPr>
          <p:cNvPr id="25" name="Rectangle 24"/>
          <p:cNvSpPr/>
          <p:nvPr/>
        </p:nvSpPr>
        <p:spPr>
          <a:xfrm>
            <a:off x="9491471" y="3063240"/>
            <a:ext cx="1755648" cy="1463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Coaching the team on responsible, productive AI use.</a:t>
            </a:r>
          </a:p>
        </p:txBody>
      </p:sp>
      <p:sp>
        <p:nvSpPr>
          <p:cNvPr id="26" name="Rounded Rectangle 25"/>
          <p:cNvSpPr/>
          <p:nvPr/>
        </p:nvSpPr>
        <p:spPr>
          <a:xfrm>
            <a:off x="640080" y="4983480"/>
            <a:ext cx="10881360" cy="1051560"/>
          </a:xfrm>
          <a:prstGeom prst="roundRect">
            <a:avLst>
              <a:gd name="adj" fmla="val 6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5074920"/>
            <a:ext cx="103327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5AC4B2"/>
                </a:solidFill>
                <a:latin typeface="Arial"/>
              </a:defRPr>
            </a:pPr>
            <a:r>
              <a:t>THE LIFECYCLE I RUN ON EVERY PILLAR</a:t>
            </a:r>
          </a:p>
        </p:txBody>
      </p:sp>
      <p:sp>
        <p:nvSpPr>
          <p:cNvPr id="28" name="Rectangle 27"/>
          <p:cNvSpPr/>
          <p:nvPr/>
        </p:nvSpPr>
        <p:spPr>
          <a:xfrm>
            <a:off x="914400" y="5440680"/>
            <a:ext cx="1033272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FFFFF"/>
                </a:solidFill>
                <a:latin typeface="Arial"/>
              </a:defRPr>
            </a:pPr>
            <a:r>
              <a:t>discover &amp; assess → pilot → roll out → implement → train → maintain &amp; continuously improve</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10"/>
                          </p:tgtEl>
                        </p:cond>
                      </p:stCondLst>
                      <p:childTnLst>
                        <p:par>
                          <p:cTn id="1007" fill="hold">
                            <p:childTnLst>
                              <p:set>
                                <p:cBhvr>
                                  <p:cTn id="1008" dur="0.001" fill="hold"/>
                                  <p:tgtEl>
                                    <p:spTgt spid="10"/>
                                  </p:tgtEl>
                                </p:cBhvr>
                                <p:to>
                                  <p:strVal val="visible"/>
                                </p:to>
                              </p:set>
                            </p:childTnLst>
                          </p:cTn>
                        </p:par>
                      </p:childTnLst>
                    </p:cTn>
                  </p:par>
                  <p:par>
                    <p:cTn id="1009" fill="hold">
                      <p:stCondLst>
                        <p:cond delay="indefinite" evt="onClick">
                          <p:tgtEl>
                            <p:spTgt spid="14"/>
                          </p:tgtEl>
                        </p:cond>
                      </p:stCondLst>
                      <p:childTnLst>
                        <p:par>
                          <p:cTn id="1010" fill="hold">
                            <p:childTnLst>
                              <p:set>
                                <p:cBhvr>
                                  <p:cTn id="1011" dur="0.001" fill="hold"/>
                                  <p:tgtEl>
                                    <p:spTgt spid="14"/>
                                  </p:tgtEl>
                                </p:cBhvr>
                                <p:to>
                                  <p:strVal val="visible"/>
                                </p:to>
                              </p:set>
                            </p:childTnLst>
                          </p:cTn>
                        </p:par>
                      </p:childTnLst>
                    </p:cTn>
                  </p:par>
                  <p:par>
                    <p:cTn id="1012" fill="hold">
                      <p:stCondLst>
                        <p:cond delay="indefinite" evt="onClick">
                          <p:tgtEl>
                            <p:spTgt spid="18"/>
                          </p:tgtEl>
                        </p:cond>
                      </p:stCondLst>
                      <p:childTnLst>
                        <p:par>
                          <p:cTn id="1013" fill="hold">
                            <p:childTnLst>
                              <p:set>
                                <p:cBhvr>
                                  <p:cTn id="1014" dur="0.001" fill="hold"/>
                                  <p:tgtEl>
                                    <p:spTgt spid="18"/>
                                  </p:tgtEl>
                                </p:cBhvr>
                                <p:to>
                                  <p:strVal val="visible"/>
                                </p:to>
                              </p:set>
                            </p:childTnLst>
                          </p:cTn>
                        </p:par>
                      </p:childTnLst>
                    </p:cTn>
                  </p:par>
                  <p:par>
                    <p:cTn id="1015" fill="hold">
                      <p:stCondLst>
                        <p:cond delay="indefinite" evt="onClick">
                          <p:tgtEl>
                            <p:spTgt spid="22"/>
                          </p:tgtEl>
                        </p:cond>
                      </p:stCondLst>
                      <p:childTnLst>
                        <p:par>
                          <p:cTn id="1016" fill="hold">
                            <p:childTnLst>
                              <p:set>
                                <p:cBhvr>
                                  <p:cTn id="1017" dur="0.001" fill="hold"/>
                                  <p:tgtEl>
                                    <p:spTgt spid="22"/>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10" grpId="0" build="p"/>
      <p:bldP spid="14" grpId="0" build="p"/>
      <p:bldP spid="18" grpId="0" build="p"/>
      <p:bldP spid="22" grpId="0" build="p"/>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THE HYBRID MODEL LAYER</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Two tiers — the right model for each job</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5 / 17</a:t>
            </a:r>
          </a:p>
        </p:txBody>
      </p:sp>
      <p:sp>
        <p:nvSpPr>
          <p:cNvPr id="6" name="Rounded Rectangle 5"/>
          <p:cNvSpPr/>
          <p:nvPr/>
        </p:nvSpPr>
        <p:spPr>
          <a:xfrm>
            <a:off x="640080" y="1874519"/>
            <a:ext cx="2286000" cy="41148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11680"/>
            <a:ext cx="2011680" cy="5943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500" b="1">
                <a:solidFill>
                  <a:srgbClr val="5AC4B2"/>
                </a:solidFill>
                <a:latin typeface="Arial"/>
              </a:defRPr>
            </a:pPr>
            <a:r>
              <a:t>MODEL ROUTER /</a:t>
            </a:r>
            <a:br/>
            <a:r>
              <a:t>GATEWAY</a:t>
            </a:r>
          </a:p>
        </p:txBody>
      </p:sp>
      <p:sp>
        <p:nvSpPr>
          <p:cNvPr id="8" name="Rectangle 7"/>
          <p:cNvSpPr/>
          <p:nvPr/>
        </p:nvSpPr>
        <p:spPr>
          <a:xfrm>
            <a:off x="777240" y="2697480"/>
            <a:ext cx="2011680" cy="3063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Inspects every request — data sensitivity, task type, cost, latency — and sends it to the right tier.</a:t>
            </a:r>
          </a:p>
          <a:p>
            <a:pPr algn="l">
              <a:spcBef>
                <a:spcPts val="0"/>
              </a:spcBef>
              <a:spcAft>
                <a:spcPts val="600"/>
              </a:spcAft>
              <a:defRPr sz="1300" b="0">
                <a:solidFill>
                  <a:srgbClr val="B8BEC4"/>
                </a:solidFill>
                <a:latin typeface="Arial"/>
              </a:defRPr>
            </a:pPr>
            <a:r>
              <a:t>One chokepoint for policy, logging, and cost control.</a:t>
            </a:r>
          </a:p>
          <a:p>
            <a:pPr algn="l">
              <a:spcBef>
                <a:spcPts val="0"/>
              </a:spcBef>
              <a:spcAft>
                <a:spcPts val="600"/>
              </a:spcAft>
              <a:defRPr sz="1300" b="1">
                <a:solidFill>
                  <a:srgbClr val="FFE716"/>
                </a:solidFill>
                <a:latin typeface="Arial"/>
              </a:defRPr>
            </a:pPr>
            <a:r>
              <a:t>Fail closed: sensitive data can only resolve to Tier 1 — default-deny to the building.</a:t>
            </a:r>
          </a:p>
        </p:txBody>
      </p:sp>
      <p:sp>
        <p:nvSpPr>
          <p:cNvPr id="9" name="Rounded Rectangle 8"/>
          <p:cNvSpPr/>
          <p:nvPr/>
        </p:nvSpPr>
        <p:spPr>
          <a:xfrm>
            <a:off x="3246120" y="1874519"/>
            <a:ext cx="3977639" cy="196596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6120" y="1874519"/>
            <a:ext cx="3977639"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2057400"/>
            <a:ext cx="356616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5AC4B2"/>
                </a:solidFill>
                <a:latin typeface="Arial"/>
              </a:defRPr>
            </a:pPr>
            <a:r>
              <a:t>TIER 1 — OPEN-WEIGHTS, SELF-HOSTED ON-PREM</a:t>
            </a:r>
          </a:p>
        </p:txBody>
      </p:sp>
      <p:sp>
        <p:nvSpPr>
          <p:cNvPr id="12" name="Rectangle 11"/>
          <p:cNvSpPr/>
          <p:nvPr/>
        </p:nvSpPr>
        <p:spPr>
          <a:xfrm>
            <a:off x="3474720" y="2450592"/>
            <a:ext cx="3566160"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50" b="0">
                <a:solidFill>
                  <a:srgbClr val="FFFFFF"/>
                </a:solidFill>
                <a:latin typeface="Arial"/>
              </a:defRPr>
            </a:pPr>
            <a:r>
              <a:t>▪  Customer artwork &amp; packaging files</a:t>
            </a:r>
          </a:p>
          <a:p>
            <a:pPr algn="l">
              <a:spcBef>
                <a:spcPts val="0"/>
              </a:spcBef>
              <a:spcAft>
                <a:spcPts val="600"/>
              </a:spcAft>
              <a:defRPr sz="1250" b="0">
                <a:solidFill>
                  <a:srgbClr val="FFFFFF"/>
                </a:solidFill>
                <a:latin typeface="Arial"/>
              </a:defRPr>
            </a:pPr>
            <a:r>
              <a:t>▪  Job tickets &amp; Tharstern MIS data</a:t>
            </a:r>
          </a:p>
          <a:p>
            <a:pPr algn="l">
              <a:spcBef>
                <a:spcPts val="0"/>
              </a:spcBef>
              <a:spcAft>
                <a:spcPts val="600"/>
              </a:spcAft>
              <a:defRPr sz="1250" b="0">
                <a:solidFill>
                  <a:srgbClr val="FFFFFF"/>
                </a:solidFill>
                <a:latin typeface="Arial"/>
              </a:defRPr>
            </a:pPr>
            <a:r>
              <a:t>▪  Color profiles &amp; Image Control data</a:t>
            </a:r>
          </a:p>
          <a:p>
            <a:pPr algn="l">
              <a:spcBef>
                <a:spcPts val="0"/>
              </a:spcBef>
              <a:spcAft>
                <a:spcPts val="600"/>
              </a:spcAft>
              <a:defRPr sz="1250" b="1">
                <a:solidFill>
                  <a:srgbClr val="FFE716"/>
                </a:solidFill>
                <a:latin typeface="Arial"/>
              </a:defRPr>
            </a:pPr>
            <a:r>
              <a:t>Fortune 500 packaging work can never leak into public tools.</a:t>
            </a:r>
          </a:p>
        </p:txBody>
      </p:sp>
      <p:sp>
        <p:nvSpPr>
          <p:cNvPr id="13" name="Rounded Rectangle 12"/>
          <p:cNvSpPr/>
          <p:nvPr/>
        </p:nvSpPr>
        <p:spPr>
          <a:xfrm>
            <a:off x="3246120" y="4023360"/>
            <a:ext cx="3977639" cy="196596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4023360"/>
            <a:ext cx="3977639" cy="82296"/>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4206240"/>
            <a:ext cx="356616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5923F"/>
                </a:solidFill>
                <a:latin typeface="Arial"/>
              </a:defRPr>
            </a:pPr>
            <a:r>
              <a:t>TIER 2 — FRONTIER MODELS VIA API</a:t>
            </a:r>
          </a:p>
        </p:txBody>
      </p:sp>
      <p:sp>
        <p:nvSpPr>
          <p:cNvPr id="16" name="Rectangle 15"/>
          <p:cNvSpPr/>
          <p:nvPr/>
        </p:nvSpPr>
        <p:spPr>
          <a:xfrm>
            <a:off x="3474720" y="4599432"/>
            <a:ext cx="3566160"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50" b="0">
                <a:solidFill>
                  <a:srgbClr val="FFFFFF"/>
                </a:solidFill>
                <a:latin typeface="Arial"/>
              </a:defRPr>
            </a:pPr>
            <a:r>
              <a:t>▪  Heavy reasoning &amp; troubleshooting</a:t>
            </a:r>
          </a:p>
          <a:p>
            <a:pPr algn="l">
              <a:spcBef>
                <a:spcPts val="0"/>
              </a:spcBef>
              <a:spcAft>
                <a:spcPts val="600"/>
              </a:spcAft>
              <a:defRPr sz="1250" b="0">
                <a:solidFill>
                  <a:srgbClr val="FFFFFF"/>
                </a:solidFill>
                <a:latin typeface="Arial"/>
              </a:defRPr>
            </a:pPr>
            <a:r>
              <a:t>▪  Code generation for automation</a:t>
            </a:r>
          </a:p>
          <a:p>
            <a:pPr algn="l">
              <a:spcBef>
                <a:spcPts val="0"/>
              </a:spcBef>
              <a:spcAft>
                <a:spcPts val="600"/>
              </a:spcAft>
              <a:defRPr sz="1250" b="1">
                <a:solidFill>
                  <a:srgbClr val="FFE716"/>
                </a:solidFill>
                <a:latin typeface="Arial"/>
              </a:defRPr>
            </a:pPr>
            <a:r>
              <a:t>Only data that is safe to send — never client artwork.</a:t>
            </a:r>
          </a:p>
        </p:txBody>
      </p:sp>
      <p:cxnSp>
        <p:nvCxnSpPr>
          <p:cNvPr id="17" name="Connector 16"/>
          <p:cNvCxnSpPr>
            <a:stCxn id="6" idx="3"/>
            <a:endCxn id="9" idx="1"/>
          </p:cNvCxnSpPr>
          <p:nvPr/>
        </p:nvCxnSpPr>
        <p:spPr>
          <a:xfrm flipV="1">
            <a:off x="2926080" y="2857499"/>
            <a:ext cx="320040" cy="1074420"/>
          </a:xfrm>
          <a:prstGeom prst="line">
            <a:avLst/>
          </a:prstGeom>
          <a:ln w="31750">
            <a:solidFill>
              <a:srgbClr val="5AC4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6" idx="3"/>
            <a:endCxn id="13" idx="1"/>
          </p:cNvCxnSpPr>
          <p:nvPr/>
        </p:nvCxnSpPr>
        <p:spPr>
          <a:xfrm>
            <a:off x="2926080" y="3931919"/>
            <a:ext cx="320040" cy="1074421"/>
          </a:xfrm>
          <a:prstGeom prst="line">
            <a:avLst/>
          </a:prstGeom>
          <a:ln w="31750">
            <a:solidFill>
              <a:srgbClr val="F5923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43800" y="1874519"/>
            <a:ext cx="4005072" cy="4114800"/>
          </a:xfrm>
          <a:prstGeom prst="roundRect">
            <a:avLst>
              <a:gd name="adj" fmla="val 4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0" y="2011680"/>
            <a:ext cx="35661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FFFFF"/>
                </a:solidFill>
                <a:latin typeface="Arial"/>
              </a:defRPr>
            </a:pPr>
            <a:r>
              <a:t>TRADE-OFFS, MADE EXPLICIT</a:t>
            </a:r>
          </a:p>
        </p:txBody>
      </p:sp>
      <p:sp>
        <p:nvSpPr>
          <p:cNvPr id="21" name="Rectangle 20"/>
          <p:cNvSpPr/>
          <p:nvPr/>
        </p:nvSpPr>
        <p:spPr>
          <a:xfrm>
            <a:off x="7772400" y="2423160"/>
            <a:ext cx="356616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50" b="0">
                <a:solidFill>
                  <a:srgbClr val="FFFFFF"/>
                </a:solidFill>
                <a:latin typeface="Arial"/>
              </a:defRPr>
            </a:pPr>
            <a:r>
              <a:rPr sz="1250" b="1">
                <a:solidFill>
                  <a:srgbClr val="FFE716"/>
                </a:solidFill>
                <a:latin typeface="Arial"/>
              </a:rPr>
              <a:t>PRIVACY — </a:t>
            </a:r>
            <a:r>
              <a:rPr sz="1250" b="0">
                <a:solidFill>
                  <a:srgbClr val="FFFFFF"/>
                </a:solidFill>
                <a:latin typeface="Arial"/>
              </a:rPr>
              <a:t>Tier 1 keeps everything in-house; Tier 2 sends data to a vendor.</a:t>
            </a:r>
          </a:p>
        </p:txBody>
      </p:sp>
      <p:sp>
        <p:nvSpPr>
          <p:cNvPr id="22" name="Rectangle 21"/>
          <p:cNvSpPr/>
          <p:nvPr/>
        </p:nvSpPr>
        <p:spPr>
          <a:xfrm>
            <a:off x="7772400" y="3264408"/>
            <a:ext cx="356616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50" b="0">
                <a:solidFill>
                  <a:srgbClr val="FFFFFF"/>
                </a:solidFill>
                <a:latin typeface="Arial"/>
              </a:defRPr>
            </a:pPr>
            <a:r>
              <a:rPr sz="1250" b="1">
                <a:solidFill>
                  <a:srgbClr val="FFE716"/>
                </a:solidFill>
                <a:latin typeface="Arial"/>
              </a:rPr>
              <a:t>LATENCY — </a:t>
            </a:r>
            <a:r>
              <a:rPr sz="1250" b="0">
                <a:solidFill>
                  <a:srgbClr val="FFFFFF"/>
                </a:solidFill>
                <a:latin typeface="Arial"/>
              </a:rPr>
              <a:t>Tier 1 infers locally with no egress; Tier 2 adds a network round-trip.</a:t>
            </a:r>
          </a:p>
        </p:txBody>
      </p:sp>
      <p:sp>
        <p:nvSpPr>
          <p:cNvPr id="23" name="Rectangle 22"/>
          <p:cNvSpPr/>
          <p:nvPr/>
        </p:nvSpPr>
        <p:spPr>
          <a:xfrm>
            <a:off x="7772400" y="4105656"/>
            <a:ext cx="356616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50" b="0">
                <a:solidFill>
                  <a:srgbClr val="FFFFFF"/>
                </a:solidFill>
                <a:latin typeface="Arial"/>
              </a:defRPr>
            </a:pPr>
            <a:r>
              <a:rPr sz="1250" b="1">
                <a:solidFill>
                  <a:srgbClr val="FFE716"/>
                </a:solidFill>
                <a:latin typeface="Arial"/>
              </a:rPr>
              <a:t>COST — </a:t>
            </a:r>
            <a:r>
              <a:rPr sz="1250" b="0">
                <a:solidFill>
                  <a:srgbClr val="FFFFFF"/>
                </a:solidFill>
                <a:latin typeface="Arial"/>
              </a:rPr>
              <a:t>Tier 1 is a fixed GPU cost with unlimited use; Tier 2 is metered per token.</a:t>
            </a:r>
          </a:p>
        </p:txBody>
      </p:sp>
      <p:sp>
        <p:nvSpPr>
          <p:cNvPr id="24" name="Rectangle 23"/>
          <p:cNvSpPr/>
          <p:nvPr/>
        </p:nvSpPr>
        <p:spPr>
          <a:xfrm>
            <a:off x="7772400" y="4946904"/>
            <a:ext cx="356616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50" b="0">
                <a:solidFill>
                  <a:srgbClr val="FFFFFF"/>
                </a:solidFill>
                <a:latin typeface="Arial"/>
              </a:defRPr>
            </a:pPr>
            <a:r>
              <a:rPr sz="1250" b="1">
                <a:solidFill>
                  <a:srgbClr val="FFE716"/>
                </a:solidFill>
                <a:latin typeface="Arial"/>
              </a:rPr>
              <a:t>CAPABILITY — </a:t>
            </a:r>
            <a:r>
              <a:rPr sz="1250" b="0">
                <a:solidFill>
                  <a:srgbClr val="FFFFFF"/>
                </a:solidFill>
                <a:latin typeface="Arial"/>
              </a:rPr>
              <a:t>Tier 2 brings frontier reasoning; Tier 1 is tuned to our own workflows.</a:t>
            </a:r>
          </a:p>
        </p:txBody>
      </p:sp>
      <p:sp>
        <p:nvSpPr>
          <p:cNvPr id="1015" name="Rectangle 1014"/>
          <p:cNvSpPr/>
          <p:nvPr/>
        </p:nvSpPr>
        <p:spPr>
          <a:xfrm>
            <a:off x="640080" y="6263640"/>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9"/>
                          </p:tgtEl>
                        </p:cond>
                      </p:stCondLst>
                      <p:childTnLst>
                        <p:par>
                          <p:cTn id="1007" fill="hold">
                            <p:childTnLst>
                              <p:set>
                                <p:cBhvr>
                                  <p:cTn id="1008" dur="0.001" fill="hold"/>
                                  <p:tgtEl>
                                    <p:spTgt spid="9"/>
                                  </p:tgtEl>
                                </p:cBhvr>
                                <p:to>
                                  <p:strVal val="visible"/>
                                </p:to>
                              </p:set>
                            </p:childTnLst>
                          </p:cTn>
                        </p:par>
                      </p:childTnLst>
                    </p:cTn>
                  </p:par>
                  <p:par>
                    <p:cTn id="1009" fill="hold">
                      <p:stCondLst>
                        <p:cond delay="indefinite" evt="onClick">
                          <p:tgtEl>
                            <p:spTgt spid="13"/>
                          </p:tgtEl>
                        </p:cond>
                      </p:stCondLst>
                      <p:childTnLst>
                        <p:par>
                          <p:cTn id="1010" fill="hold">
                            <p:childTnLst>
                              <p:set>
                                <p:cBhvr>
                                  <p:cTn id="1011" dur="0.001" fill="hold"/>
                                  <p:tgtEl>
                                    <p:spTgt spid="13"/>
                                  </p:tgtEl>
                                </p:cBhvr>
                                <p:to>
                                  <p:strVal val="visible"/>
                                </p:to>
                              </p:set>
                            </p:childTnLst>
                          </p:cTn>
                        </p:par>
                      </p:childTnLst>
                    </p:cTn>
                  </p:par>
                  <p:par>
                    <p:cTn id="1012" fill="hold">
                      <p:stCondLst>
                        <p:cond delay="indefinite" evt="onClick">
                          <p:tgtEl>
                            <p:spTgt spid="19"/>
                          </p:tgtEl>
                        </p:cond>
                      </p:stCondLst>
                      <p:childTnLst>
                        <p:par>
                          <p:cTn id="1013" fill="hold">
                            <p:childTnLst>
                              <p:set>
                                <p:cBhvr>
                                  <p:cTn id="1014" dur="0.001" fill="hold"/>
                                  <p:tgtEl>
                                    <p:spTgt spid="19"/>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9" grpId="0" build="p"/>
      <p:bldP spid="13" grpId="0" build="p"/>
      <p:bldP spid="19" grpId="0" build="p"/>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THE DECISION LAYER</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Jev — LLMs generate, Jev decides, software governs</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6 / 17</a:t>
            </a:r>
          </a:p>
        </p:txBody>
      </p:sp>
      <p:sp>
        <p:nvSpPr>
          <p:cNvPr id="6" name="Rounded Rectangle 5"/>
          <p:cNvSpPr/>
          <p:nvPr/>
        </p:nvSpPr>
        <p:spPr>
          <a:xfrm>
            <a:off x="640080" y="1828800"/>
            <a:ext cx="3474720" cy="27432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3474720"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56816"/>
            <a:ext cx="32004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50" b="1">
                <a:solidFill>
                  <a:srgbClr val="5AC4B2"/>
                </a:solidFill>
                <a:latin typeface="Arial"/>
              </a:defRPr>
            </a:pPr>
            <a:r>
              <a:t>WHAT JEV IS</a:t>
            </a:r>
          </a:p>
        </p:txBody>
      </p:sp>
      <p:sp>
        <p:nvSpPr>
          <p:cNvPr id="9" name="Rectangle 8"/>
          <p:cNvSpPr/>
          <p:nvPr/>
        </p:nvSpPr>
        <p:spPr>
          <a:xfrm>
            <a:off x="777240" y="2359152"/>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TypeSafe's “System One” decision model — launched September 2026</a:t>
            </a:r>
          </a:p>
        </p:txBody>
      </p:sp>
      <p:sp>
        <p:nvSpPr>
          <p:cNvPr id="10" name="Rectangle 9"/>
          <p:cNvSpPr/>
          <p:nvPr/>
        </p:nvSpPr>
        <p:spPr>
          <a:xfrm>
            <a:off x="777240" y="2798064"/>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Not a generative LLM: answers typed questions (Choice / Score / Noul)</a:t>
            </a:r>
          </a:p>
        </p:txBody>
      </p:sp>
      <p:sp>
        <p:nvSpPr>
          <p:cNvPr id="11" name="Rectangle 10"/>
          <p:cNvSpPr/>
          <p:nvPr/>
        </p:nvSpPr>
        <p:spPr>
          <a:xfrm>
            <a:off x="777240" y="3236976"/>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Returns structured values with calibrated probabilities</a:t>
            </a:r>
          </a:p>
        </p:txBody>
      </p:sp>
      <p:sp>
        <p:nvSpPr>
          <p:cNvPr id="12" name="Rectangle 11"/>
          <p:cNvSpPr/>
          <p:nvPr/>
        </p:nvSpPr>
        <p:spPr>
          <a:xfrm>
            <a:off x="777240" y="3675887"/>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Via API: POST api.typesafe.ai/v1/systemone, route “jev-latest”</a:t>
            </a:r>
          </a:p>
        </p:txBody>
      </p:sp>
      <p:sp>
        <p:nvSpPr>
          <p:cNvPr id="13" name="Rectangle 12"/>
          <p:cNvSpPr/>
          <p:nvPr/>
        </p:nvSpPr>
        <p:spPr>
          <a:xfrm>
            <a:off x="777240" y="4114800"/>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Does not draft text, write code, or plan — LLMs still do that</a:t>
            </a:r>
          </a:p>
        </p:txBody>
      </p:sp>
      <p:sp>
        <p:nvSpPr>
          <p:cNvPr id="14" name="Rounded Rectangle 13"/>
          <p:cNvSpPr/>
          <p:nvPr/>
        </p:nvSpPr>
        <p:spPr>
          <a:xfrm>
            <a:off x="4343400" y="1828800"/>
            <a:ext cx="3474720" cy="27432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828800"/>
            <a:ext cx="3474720" cy="82296"/>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1956816"/>
            <a:ext cx="32004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50" b="1">
                <a:solidFill>
                  <a:srgbClr val="F5923F"/>
                </a:solidFill>
                <a:latin typeface="Arial"/>
              </a:defRPr>
            </a:pPr>
            <a:r>
              <a:t>WHERE IT FITS</a:t>
            </a:r>
          </a:p>
        </p:txBody>
      </p:sp>
      <p:sp>
        <p:nvSpPr>
          <p:cNvPr id="17" name="Rectangle 16"/>
          <p:cNvSpPr/>
          <p:nvPr/>
        </p:nvSpPr>
        <p:spPr>
          <a:xfrm>
            <a:off x="4480560" y="2359152"/>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Tier 1 on-prem: private data + generation</a:t>
            </a:r>
          </a:p>
        </p:txBody>
      </p:sp>
      <p:sp>
        <p:nvSpPr>
          <p:cNvPr id="18" name="Rectangle 17"/>
          <p:cNvSpPr/>
          <p:nvPr/>
        </p:nvSpPr>
        <p:spPr>
          <a:xfrm>
            <a:off x="4480560" y="2798064"/>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Tier 2 frontier APIs: heavy reasoning + coding</a:t>
            </a:r>
          </a:p>
        </p:txBody>
      </p:sp>
      <p:sp>
        <p:nvSpPr>
          <p:cNvPr id="19" name="Rectangle 18"/>
          <p:cNvSpPr/>
          <p:nvPr/>
        </p:nvSpPr>
        <p:spPr>
          <a:xfrm>
            <a:off x="4480560" y="3236976"/>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Jev between them: the structured decisions</a:t>
            </a:r>
          </a:p>
        </p:txBody>
      </p:sp>
      <p:sp>
        <p:nvSpPr>
          <p:cNvPr id="20" name="Rectangle 19"/>
          <p:cNvSpPr/>
          <p:nvPr/>
        </p:nvSpPr>
        <p:spPr>
          <a:xfrm>
            <a:off x="4480560" y="3675887"/>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Extends your pillars: Switch/Pressero route, PAT optimizes — Jev judges</a:t>
            </a:r>
          </a:p>
        </p:txBody>
      </p:sp>
      <p:sp>
        <p:nvSpPr>
          <p:cNvPr id="21" name="Rectangle 20"/>
          <p:cNvSpPr/>
          <p:nvPr/>
        </p:nvSpPr>
        <p:spPr>
          <a:xfrm>
            <a:off x="4480560" y="4114800"/>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“LLMs generate, Jev decides, software governs.”</a:t>
            </a:r>
          </a:p>
        </p:txBody>
      </p:sp>
      <p:sp>
        <p:nvSpPr>
          <p:cNvPr id="22" name="Rounded Rectangle 21"/>
          <p:cNvSpPr/>
          <p:nvPr/>
        </p:nvSpPr>
        <p:spPr>
          <a:xfrm>
            <a:off x="8046720" y="1828800"/>
            <a:ext cx="3474720" cy="27432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1828800"/>
            <a:ext cx="3474720" cy="82296"/>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83880" y="1956816"/>
            <a:ext cx="32004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50" b="1">
                <a:solidFill>
                  <a:srgbClr val="FFE716"/>
                </a:solidFill>
                <a:latin typeface="Arial"/>
              </a:defRPr>
            </a:pPr>
            <a:r>
              <a:t>EXAMPLE FLOW</a:t>
            </a:r>
          </a:p>
        </p:txBody>
      </p:sp>
      <p:sp>
        <p:nvSpPr>
          <p:cNvPr id="25" name="Rectangle 24"/>
          <p:cNvSpPr/>
          <p:nvPr/>
        </p:nvSpPr>
        <p:spPr>
          <a:xfrm>
            <a:off x="8183880" y="2359152"/>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1. A job ticket arrives (JDF/JMF in a typical setup — to confirm)</a:t>
            </a:r>
          </a:p>
        </p:txBody>
      </p:sp>
      <p:sp>
        <p:nvSpPr>
          <p:cNvPr id="26" name="Rectangle 25"/>
          <p:cNvSpPr/>
          <p:nvPr/>
        </p:nvSpPr>
        <p:spPr>
          <a:xfrm>
            <a:off x="8183880" y="2798064"/>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2. Jev scores its priority and route (calibrated probability)</a:t>
            </a:r>
          </a:p>
        </p:txBody>
      </p:sp>
      <p:sp>
        <p:nvSpPr>
          <p:cNvPr id="27" name="Rectangle 26"/>
          <p:cNvSpPr/>
          <p:nvPr/>
        </p:nvSpPr>
        <p:spPr>
          <a:xfrm>
            <a:off x="8183880" y="3236976"/>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3. The JDF/MIS agent acts on the scored decision</a:t>
            </a:r>
          </a:p>
        </p:txBody>
      </p:sp>
      <p:sp>
        <p:nvSpPr>
          <p:cNvPr id="28" name="Rectangle 27"/>
          <p:cNvSpPr/>
          <p:nvPr/>
        </p:nvSpPr>
        <p:spPr>
          <a:xfrm>
            <a:off x="8183880" y="3675887"/>
            <a:ext cx="32004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FFFFFF"/>
                </a:solidFill>
                <a:latin typeface="Arial"/>
              </a:defRPr>
            </a:pPr>
            <a:r>
              <a:t>▪  4. A human approves — every time</a:t>
            </a:r>
          </a:p>
        </p:txBody>
      </p:sp>
      <p:sp>
        <p:nvSpPr>
          <p:cNvPr id="29" name="Rounded Rectangle 28"/>
          <p:cNvSpPr/>
          <p:nvPr/>
        </p:nvSpPr>
        <p:spPr>
          <a:xfrm>
            <a:off x="640080" y="4754880"/>
            <a:ext cx="10881360" cy="1417320"/>
          </a:xfrm>
          <a:prstGeom prst="roundRect">
            <a:avLst>
              <a:gd name="adj" fmla="val 6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4400" y="4846320"/>
            <a:ext cx="1033272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FE716"/>
                </a:solidFill>
                <a:latin typeface="Arial"/>
              </a:defRPr>
            </a:pPr>
            <a:r>
              <a:t>HONEST FRAMING — A PILOT-PHASE RECOMMENDATION</a:t>
            </a:r>
          </a:p>
        </p:txBody>
      </p:sp>
      <p:sp>
        <p:nvSpPr>
          <p:cNvPr id="31" name="Rectangle 30"/>
          <p:cNvSpPr/>
          <p:nvPr/>
        </p:nvSpPr>
        <p:spPr>
          <a:xfrm>
            <a:off x="914400" y="5166360"/>
            <a:ext cx="10332720"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50" b="0">
                <a:solidFill>
                  <a:srgbClr val="FFFFFF"/>
                </a:solidFill>
                <a:latin typeface="Arial"/>
              </a:defRPr>
            </a:pPr>
            <a:r>
              <a:t>▪  The recommendation: Jev as the decision layer — one 30-day pilot on order triage (50–300 labeled items) before anything touches production routing.</a:t>
            </a:r>
          </a:p>
          <a:p>
            <a:pPr algn="l">
              <a:spcBef>
                <a:spcPts val="0"/>
              </a:spcBef>
              <a:spcAft>
                <a:spcPts val="600"/>
              </a:spcAft>
              <a:defRPr sz="1150" b="0">
                <a:solidFill>
                  <a:srgbClr val="FFFFFF"/>
                </a:solidFill>
                <a:latin typeface="Arial"/>
              </a:defRPr>
            </a:pPr>
            <a:r>
              <a:t>▪  Access is waitlist / early-access; pricing announced at $0.042 per million input tokens — the pilot starts when access and written data terms land.</a:t>
            </a:r>
          </a:p>
          <a:p>
            <a:pPr algn="l">
              <a:spcBef>
                <a:spcPts val="0"/>
              </a:spcBef>
              <a:spcAft>
                <a:spcPts val="600"/>
              </a:spcAft>
              <a:defRPr sz="1150" b="0">
                <a:solidFill>
                  <a:srgbClr val="FFFFFF"/>
                </a:solidFill>
                <a:latin typeface="Arial"/>
              </a:defRPr>
            </a:pPr>
            <a:r>
              <a:t>▪  TypeSafe's no-training-on-customer-data / zero-data-retention claims are UNVERIFIED on primary sources — artwork stays on-prem regardless.</a:t>
            </a:r>
          </a:p>
          <a:p>
            <a:pPr algn="l">
              <a:spcBef>
                <a:spcPts val="0"/>
              </a:spcBef>
              <a:spcAft>
                <a:spcPts val="600"/>
              </a:spcAft>
              <a:defRPr sz="1150" b="0">
                <a:solidFill>
                  <a:srgbClr val="FFFFFF"/>
                </a:solidFill>
                <a:latin typeface="Arial"/>
              </a:defRPr>
            </a:pPr>
            <a:r>
              <a:t>▪  Contingency, not an open option: an open-weights classifier stands behind the pilot, so the program never stalls on a waitlist.</a:t>
            </a:r>
          </a:p>
        </p:txBody>
      </p:sp>
      <p:sp>
        <p:nvSpPr>
          <p:cNvPr id="1015" name="Rectangle 1014"/>
          <p:cNvSpPr/>
          <p:nvPr/>
        </p:nvSpPr>
        <p:spPr>
          <a:xfrm>
            <a:off x="640080" y="6263640"/>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14"/>
                          </p:tgtEl>
                        </p:cond>
                      </p:stCondLst>
                      <p:childTnLst>
                        <p:par>
                          <p:cTn id="1007" fill="hold">
                            <p:childTnLst>
                              <p:set>
                                <p:cBhvr>
                                  <p:cTn id="1008" dur="0.001" fill="hold"/>
                                  <p:tgtEl>
                                    <p:spTgt spid="14"/>
                                  </p:tgtEl>
                                </p:cBhvr>
                                <p:to>
                                  <p:strVal val="visible"/>
                                </p:to>
                              </p:set>
                            </p:childTnLst>
                          </p:cTn>
                        </p:par>
                      </p:childTnLst>
                    </p:cTn>
                  </p:par>
                  <p:par>
                    <p:cTn id="1009" fill="hold">
                      <p:stCondLst>
                        <p:cond delay="indefinite" evt="onClick">
                          <p:tgtEl>
                            <p:spTgt spid="22"/>
                          </p:tgtEl>
                        </p:cond>
                      </p:stCondLst>
                      <p:childTnLst>
                        <p:par>
                          <p:cTn id="1010" fill="hold">
                            <p:childTnLst>
                              <p:set>
                                <p:cBhvr>
                                  <p:cTn id="1011" dur="0.001" fill="hold"/>
                                  <p:tgtEl>
                                    <p:spTgt spid="22"/>
                                  </p:tgtEl>
                                </p:cBhvr>
                                <p:to>
                                  <p:strVal val="visible"/>
                                </p:to>
                              </p:set>
                            </p:childTnLst>
                          </p:cTn>
                        </p:par>
                      </p:childTnLst>
                    </p:cTn>
                  </p:par>
                  <p:par>
                    <p:cTn id="1012" fill="hold">
                      <p:stCondLst>
                        <p:cond delay="indefinite" evt="onClick">
                          <p:tgtEl>
                            <p:spTgt spid="29"/>
                          </p:tgtEl>
                        </p:cond>
                      </p:stCondLst>
                      <p:childTnLst>
                        <p:par>
                          <p:cTn id="1013" fill="hold">
                            <p:childTnLst>
                              <p:set>
                                <p:cBhvr>
                                  <p:cTn id="1014" dur="0.001" fill="hold"/>
                                  <p:tgtEl>
                                    <p:spTgt spid="29"/>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14" grpId="0" build="p"/>
      <p:bldP spid="22" grpId="0" build="p"/>
      <p:bldP spid="29" grpId="0" build="p"/>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PILLAR DEEP-DIVE</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The backbone: sysadmin + infrastructure</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7 / 17</a:t>
            </a:r>
          </a:p>
        </p:txBody>
      </p:sp>
      <p:sp>
        <p:nvSpPr>
          <p:cNvPr id="6" name="Rounded Rectangle 5"/>
          <p:cNvSpPr/>
          <p:nvPr/>
        </p:nvSpPr>
        <p:spPr>
          <a:xfrm>
            <a:off x="640080" y="2148840"/>
            <a:ext cx="1600200" cy="1005840"/>
          </a:xfrm>
          <a:prstGeom prst="roundRect">
            <a:avLst>
              <a:gd name="adj" fmla="val 12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48840"/>
            <a:ext cx="1600200" cy="1005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FFFFFF"/>
                </a:solidFill>
                <a:latin typeface="Arial"/>
              </a:defRPr>
            </a:pPr>
            <a:r>
              <a:t>Tharstern</a:t>
            </a:r>
            <a:br/>
            <a:r>
              <a:t>MIS</a:t>
            </a:r>
          </a:p>
        </p:txBody>
      </p:sp>
      <p:sp>
        <p:nvSpPr>
          <p:cNvPr id="8" name="Rounded Rectangle 7"/>
          <p:cNvSpPr/>
          <p:nvPr/>
        </p:nvSpPr>
        <p:spPr>
          <a:xfrm>
            <a:off x="2514600" y="2148840"/>
            <a:ext cx="1600200" cy="1005840"/>
          </a:xfrm>
          <a:prstGeom prst="roundRect">
            <a:avLst>
              <a:gd name="adj" fmla="val 12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4600" y="2148840"/>
            <a:ext cx="1600200" cy="1005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FFFFFF"/>
                </a:solidFill>
                <a:latin typeface="Arial"/>
              </a:defRPr>
            </a:pPr>
            <a:r>
              <a:t>JDF</a:t>
            </a:r>
            <a:br/>
            <a:r>
              <a:t>job ticket*</a:t>
            </a:r>
          </a:p>
        </p:txBody>
      </p:sp>
      <p:sp>
        <p:nvSpPr>
          <p:cNvPr id="10" name="Rounded Rectangle 9"/>
          <p:cNvSpPr/>
          <p:nvPr/>
        </p:nvSpPr>
        <p:spPr>
          <a:xfrm>
            <a:off x="4389120" y="2148840"/>
            <a:ext cx="1600200" cy="1005840"/>
          </a:xfrm>
          <a:prstGeom prst="roundRect">
            <a:avLst>
              <a:gd name="adj" fmla="val 12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2148840"/>
            <a:ext cx="1600200" cy="1005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FFFFFF"/>
                </a:solidFill>
                <a:latin typeface="Arial"/>
              </a:defRPr>
            </a:pPr>
            <a:r>
              <a:t>Prinect</a:t>
            </a:r>
            <a:br/>
            <a:r>
              <a:t>RIP</a:t>
            </a:r>
          </a:p>
        </p:txBody>
      </p:sp>
      <p:sp>
        <p:nvSpPr>
          <p:cNvPr id="12" name="Rounded Rectangle 11"/>
          <p:cNvSpPr/>
          <p:nvPr/>
        </p:nvSpPr>
        <p:spPr>
          <a:xfrm>
            <a:off x="6263640" y="2148840"/>
            <a:ext cx="1600200" cy="1005840"/>
          </a:xfrm>
          <a:prstGeom prst="roundRect">
            <a:avLst>
              <a:gd name="adj" fmla="val 12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2148840"/>
            <a:ext cx="1600200" cy="1005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FFFFFF"/>
                </a:solidFill>
                <a:latin typeface="Arial"/>
              </a:defRPr>
            </a:pPr>
            <a:r>
              <a:t>Suprasetter</a:t>
            </a:r>
            <a:br/>
            <a:r>
              <a:t>CtP</a:t>
            </a:r>
          </a:p>
        </p:txBody>
      </p:sp>
      <p:sp>
        <p:nvSpPr>
          <p:cNvPr id="14" name="Rounded Rectangle 13"/>
          <p:cNvSpPr/>
          <p:nvPr/>
        </p:nvSpPr>
        <p:spPr>
          <a:xfrm>
            <a:off x="8138160" y="2148840"/>
            <a:ext cx="1600200" cy="1005840"/>
          </a:xfrm>
          <a:prstGeom prst="roundRect">
            <a:avLst>
              <a:gd name="adj" fmla="val 12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2148840"/>
            <a:ext cx="1600200" cy="1005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FFFFFF"/>
                </a:solidFill>
                <a:latin typeface="Arial"/>
              </a:defRPr>
            </a:pPr>
            <a:r>
              <a:t>Press room</a:t>
            </a:r>
            <a:br/>
            <a:r>
              <a:t>(CD 102 + digital)</a:t>
            </a:r>
          </a:p>
        </p:txBody>
      </p:sp>
      <p:cxnSp>
        <p:nvCxnSpPr>
          <p:cNvPr id="16" name="Connector 15"/>
          <p:cNvCxnSpPr>
            <a:stCxn id="6" idx="3"/>
            <a:endCxn id="8" idx="1"/>
          </p:cNvCxnSpPr>
          <p:nvPr/>
        </p:nvCxnSpPr>
        <p:spPr>
          <a:xfrm flipV="1">
            <a:off x="2240280" y="2651760"/>
            <a:ext cx="274320" cy="0"/>
          </a:xfrm>
          <a:prstGeom prst="line">
            <a:avLst/>
          </a:prstGeom>
          <a:ln w="31750">
            <a:solidFill>
              <a:srgbClr val="5AC4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8" idx="3"/>
            <a:endCxn id="10" idx="1"/>
          </p:cNvCxnSpPr>
          <p:nvPr/>
        </p:nvCxnSpPr>
        <p:spPr>
          <a:xfrm flipV="1">
            <a:off x="4114800" y="2651760"/>
            <a:ext cx="274320" cy="0"/>
          </a:xfrm>
          <a:prstGeom prst="line">
            <a:avLst/>
          </a:prstGeom>
          <a:ln w="31750">
            <a:solidFill>
              <a:srgbClr val="5AC4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0" idx="3"/>
            <a:endCxn id="12" idx="1"/>
          </p:cNvCxnSpPr>
          <p:nvPr/>
        </p:nvCxnSpPr>
        <p:spPr>
          <a:xfrm flipV="1">
            <a:off x="5989320" y="2651760"/>
            <a:ext cx="274320" cy="0"/>
          </a:xfrm>
          <a:prstGeom prst="line">
            <a:avLst/>
          </a:prstGeom>
          <a:ln w="31750">
            <a:solidFill>
              <a:srgbClr val="5AC4B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2" idx="3"/>
            <a:endCxn id="14" idx="1"/>
          </p:cNvCxnSpPr>
          <p:nvPr/>
        </p:nvCxnSpPr>
        <p:spPr>
          <a:xfrm flipV="1">
            <a:off x="7863840" y="2651760"/>
            <a:ext cx="274320" cy="0"/>
          </a:xfrm>
          <a:prstGeom prst="line">
            <a:avLst/>
          </a:prstGeom>
          <a:ln w="31750">
            <a:solidFill>
              <a:srgbClr val="5AC4B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38160" y="3703320"/>
            <a:ext cx="1600200" cy="640080"/>
          </a:xfrm>
          <a:prstGeom prst="roundRect">
            <a:avLst>
              <a:gd name="adj" fmla="val 18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3703320"/>
            <a:ext cx="16002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200" b="1">
                <a:solidFill>
                  <a:srgbClr val="5AC4B2"/>
                </a:solidFill>
                <a:latin typeface="Arial"/>
              </a:defRPr>
            </a:pPr>
            <a:r>
              <a:t>JMF status</a:t>
            </a:r>
            <a:br/>
            <a:r>
              <a:t>back*</a:t>
            </a:r>
          </a:p>
        </p:txBody>
      </p:sp>
      <p:cxnSp>
        <p:nvCxnSpPr>
          <p:cNvPr id="22" name="Connector 21"/>
          <p:cNvCxnSpPr>
            <a:stCxn id="20" idx="1"/>
            <a:endCxn id="6" idx="1"/>
          </p:cNvCxnSpPr>
          <p:nvPr/>
        </p:nvCxnSpPr>
        <p:spPr>
          <a:xfrm flipH="1" flipV="1">
            <a:off x="640080" y="2651760"/>
            <a:ext cx="7498080" cy="1371600"/>
          </a:xfrm>
          <a:prstGeom prst="bentConnector3">
            <a:avLst/>
          </a:prstGeom>
          <a:ln w="25400">
            <a:solidFill>
              <a:srgbClr val="5AC4B2"/>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89120" y="3703320"/>
            <a:ext cx="3474720" cy="640080"/>
          </a:xfrm>
          <a:prstGeom prst="roundRect">
            <a:avLst>
              <a:gd name="adj" fmla="val 10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3703320"/>
            <a:ext cx="347472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200" b="1">
                <a:solidFill>
                  <a:srgbClr val="FFE716"/>
                </a:solidFill>
                <a:latin typeface="Arial"/>
              </a:defRPr>
            </a:pPr>
            <a:r>
              <a:t>Color data: Image Control / IntelliTrax (public equipment lists)</a:t>
            </a:r>
          </a:p>
        </p:txBody>
      </p:sp>
      <p:cxnSp>
        <p:nvCxnSpPr>
          <p:cNvPr id="25" name="Connector 24"/>
          <p:cNvCxnSpPr>
            <a:stCxn id="23" idx="0"/>
            <a:endCxn id="10" idx="2"/>
          </p:cNvCxnSpPr>
          <p:nvPr/>
        </p:nvCxnSpPr>
        <p:spPr>
          <a:xfrm flipH="1" flipV="1">
            <a:off x="5189220" y="3154680"/>
            <a:ext cx="937260" cy="548640"/>
          </a:xfrm>
          <a:prstGeom prst="line">
            <a:avLst/>
          </a:prstGeom>
          <a:ln w="25400">
            <a:solidFill>
              <a:srgbClr val="FFE716"/>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40080" y="4407408"/>
            <a:ext cx="108813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0">
                <a:solidFill>
                  <a:srgbClr val="B8BEC4"/>
                </a:solidFill>
                <a:latin typeface="Arial"/>
              </a:defRPr>
            </a:pPr>
            <a:r>
              <a:t>* Inferred — typical Prinect/Tharstern shop setup; I confirm in Phase 0.</a:t>
            </a:r>
          </a:p>
        </p:txBody>
      </p:sp>
      <p:sp>
        <p:nvSpPr>
          <p:cNvPr id="27" name="Rectangle 26"/>
          <p:cNvSpPr/>
          <p:nvPr/>
        </p:nvSpPr>
        <p:spPr>
          <a:xfrm>
            <a:off x="640080" y="4617720"/>
            <a:ext cx="108813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5AC4B2"/>
                </a:solidFill>
                <a:latin typeface="Arial"/>
              </a:defRPr>
            </a:pPr>
            <a:r>
              <a:t>WHAT I'D ASSESS IN PHASE 0 — THEN OWN</a:t>
            </a:r>
          </a:p>
        </p:txBody>
      </p:sp>
      <p:sp>
        <p:nvSpPr>
          <p:cNvPr id="28" name="Rectangle 27"/>
          <p:cNvSpPr/>
          <p:nvPr/>
        </p:nvSpPr>
        <p:spPr>
          <a:xfrm>
            <a:off x="640080" y="4956048"/>
            <a:ext cx="108813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Phase 0 assessment: domain/identity, VLANs across the three buildings, backup/DR, monitoring — unverified publicly; I measure, I don't guess</a:t>
            </a:r>
          </a:p>
        </p:txBody>
      </p:sp>
      <p:sp>
        <p:nvSpPr>
          <p:cNvPr id="29" name="Rectangle 28"/>
          <p:cNvSpPr/>
          <p:nvPr/>
        </p:nvSpPr>
        <p:spPr>
          <a:xfrm>
            <a:off x="640080" y="5221224"/>
            <a:ext cx="108813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Segment production/OT from office IT — dedicated production VLANs; press consoles off the office LAN (proposed, Phase 1)</a:t>
            </a:r>
          </a:p>
        </p:txBody>
      </p:sp>
      <p:sp>
        <p:nvSpPr>
          <p:cNvPr id="30" name="Rectangle 29"/>
          <p:cNvSpPr/>
          <p:nvPr/>
        </p:nvSpPr>
        <p:spPr>
          <a:xfrm>
            <a:off x="640080" y="5486400"/>
            <a:ext cx="108813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Terabyte-scale artwork storage with versioning; tested 3-2-1 backups of RIP queues, the MIS database, calibration data (proposed)</a:t>
            </a:r>
          </a:p>
        </p:txBody>
      </p:sp>
      <p:sp>
        <p:nvSpPr>
          <p:cNvPr id="31" name="Rectangle 30"/>
          <p:cNvSpPr/>
          <p:nvPr/>
        </p:nvSpPr>
        <p:spPr>
          <a:xfrm>
            <a:off x="640080" y="5751576"/>
            <a:ext cx="108813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Patch windows that never stop a press run; vendor-pinned console builds hardened per Heidelberg guidance — never freelanced</a:t>
            </a:r>
          </a:p>
        </p:txBody>
      </p:sp>
      <p:sp>
        <p:nvSpPr>
          <p:cNvPr id="32" name="Rectangle 31"/>
          <p:cNvSpPr/>
          <p:nvPr/>
        </p:nvSpPr>
        <p:spPr>
          <a:xfrm>
            <a:off x="640080" y="6016752"/>
            <a:ext cx="108813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  Vendor remote-service paths (e.g., Heidelberg eCall / Remote Service — to confirm): time-boxed, on-request, logged</a:t>
            </a:r>
          </a:p>
        </p:txBody>
      </p:sp>
      <p:sp>
        <p:nvSpPr>
          <p:cNvPr id="33" name="Rectangle 32"/>
          <p:cNvSpPr/>
          <p:nvPr/>
        </p:nvSpPr>
        <p:spPr>
          <a:xfrm>
            <a:off x="640080" y="6446520"/>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THE HARNESS</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What keeps AI safe, measurable, and reversible</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8 / 17</a:t>
            </a:r>
          </a:p>
        </p:txBody>
      </p:sp>
      <p:sp>
        <p:nvSpPr>
          <p:cNvPr id="6" name="Rounded Rectangle 5"/>
          <p:cNvSpPr/>
          <p:nvPr/>
        </p:nvSpPr>
        <p:spPr>
          <a:xfrm>
            <a:off x="640080" y="1874519"/>
            <a:ext cx="5394960" cy="12344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400" b="1">
                <a:solidFill>
                  <a:srgbClr val="FFFFFF"/>
                </a:solidFill>
                <a:latin typeface="Arial"/>
              </a:rPr>
              <a:t>Local inference serving —  </a:t>
            </a:r>
            <a:r>
              <a:rPr sz="1400" b="0">
                <a:solidFill>
                  <a:srgbClr val="FFFFFF"/>
                </a:solidFill>
                <a:latin typeface="Arial"/>
              </a:rPr>
              <a:t>open-weights models served on company hardware — versioned, monitored, and restartable.</a:t>
            </a:r>
          </a:p>
        </p:txBody>
      </p:sp>
      <p:sp>
        <p:nvSpPr>
          <p:cNvPr id="7" name="Rectangle 6"/>
          <p:cNvSpPr/>
          <p:nvPr/>
        </p:nvSpPr>
        <p:spPr>
          <a:xfrm>
            <a:off x="640080" y="1874519"/>
            <a:ext cx="82296" cy="123444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26480" y="1874519"/>
            <a:ext cx="5394960" cy="12344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400" b="1">
                <a:solidFill>
                  <a:srgbClr val="FFFFFF"/>
                </a:solidFill>
                <a:latin typeface="Arial"/>
              </a:rPr>
              <a:t>Prompt &amp; version management —  </a:t>
            </a:r>
            <a:r>
              <a:rPr sz="1400" b="0">
                <a:solidFill>
                  <a:srgbClr val="FFFFFF"/>
                </a:solidFill>
                <a:latin typeface="Arial"/>
              </a:rPr>
              <a:t>every prompt, model, and config pinned and reviewed like code — no silent changes.</a:t>
            </a:r>
          </a:p>
        </p:txBody>
      </p:sp>
      <p:sp>
        <p:nvSpPr>
          <p:cNvPr id="9" name="Rectangle 8"/>
          <p:cNvSpPr/>
          <p:nvPr/>
        </p:nvSpPr>
        <p:spPr>
          <a:xfrm>
            <a:off x="6126480" y="1874519"/>
            <a:ext cx="82296" cy="1234440"/>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3246120"/>
            <a:ext cx="5394960" cy="12344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400" b="1">
                <a:solidFill>
                  <a:srgbClr val="FFFFFF"/>
                </a:solidFill>
                <a:latin typeface="Arial"/>
              </a:rPr>
              <a:t>Guardrails &amp; content filters —  </a:t>
            </a:r>
            <a:r>
              <a:rPr sz="1400" b="0">
                <a:solidFill>
                  <a:srgbClr val="FFFFFF"/>
                </a:solidFill>
                <a:latin typeface="Arial"/>
              </a:rPr>
              <a:t>what a model may see, say, and touch is declared up front — not hoped for.</a:t>
            </a:r>
          </a:p>
        </p:txBody>
      </p:sp>
      <p:sp>
        <p:nvSpPr>
          <p:cNvPr id="11" name="Rectangle 10"/>
          <p:cNvSpPr/>
          <p:nvPr/>
        </p:nvSpPr>
        <p:spPr>
          <a:xfrm>
            <a:off x="640080" y="3246120"/>
            <a:ext cx="82296" cy="1234440"/>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0" y="3246120"/>
            <a:ext cx="5394960" cy="12344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400" b="1">
                <a:solidFill>
                  <a:srgbClr val="FFFFFF"/>
                </a:solidFill>
                <a:latin typeface="Arial"/>
              </a:rPr>
              <a:t>Audit logging of every AI action —  </a:t>
            </a:r>
            <a:r>
              <a:rPr sz="1400" b="0">
                <a:solidFill>
                  <a:srgbClr val="FFFFFF"/>
                </a:solidFill>
                <a:latin typeface="Arial"/>
              </a:rPr>
              <a:t>who asked, what the model saw, what it did — a full trail on every request.</a:t>
            </a:r>
          </a:p>
        </p:txBody>
      </p:sp>
      <p:sp>
        <p:nvSpPr>
          <p:cNvPr id="13" name="Rectangle 12"/>
          <p:cNvSpPr/>
          <p:nvPr/>
        </p:nvSpPr>
        <p:spPr>
          <a:xfrm>
            <a:off x="6126480" y="3246120"/>
            <a:ext cx="82296" cy="123444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4617720"/>
            <a:ext cx="5394960" cy="12344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400" b="1">
                <a:solidFill>
                  <a:srgbClr val="FFFFFF"/>
                </a:solidFill>
                <a:latin typeface="Arial"/>
              </a:rPr>
              <a:t>Cost tracking per use case —  </a:t>
            </a:r>
            <a:r>
              <a:rPr sz="1400" b="0">
                <a:solidFill>
                  <a:srgbClr val="FFFFFF"/>
                </a:solidFill>
                <a:latin typeface="Arial"/>
              </a:rPr>
              <a:t>tokens, GPU-hours, and wall-clock time attributed to each pilot and agent.</a:t>
            </a:r>
          </a:p>
        </p:txBody>
      </p:sp>
      <p:sp>
        <p:nvSpPr>
          <p:cNvPr id="15" name="Rectangle 14"/>
          <p:cNvSpPr/>
          <p:nvPr/>
        </p:nvSpPr>
        <p:spPr>
          <a:xfrm>
            <a:off x="640080" y="4617720"/>
            <a:ext cx="82296" cy="1234440"/>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0" y="4617720"/>
            <a:ext cx="5394960" cy="123444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400" b="1">
                <a:solidFill>
                  <a:srgbClr val="FFFFFF"/>
                </a:solidFill>
                <a:latin typeface="Arial"/>
              </a:rPr>
              <a:t>Eval harness —  </a:t>
            </a:r>
            <a:r>
              <a:rPr sz="1400" b="0">
                <a:solidFill>
                  <a:srgbClr val="FFFFFF"/>
                </a:solidFill>
                <a:latin typeface="Arial"/>
              </a:rPr>
              <a:t>every automation regression-tested before it touches production — failures block the rollout.</a:t>
            </a:r>
          </a:p>
        </p:txBody>
      </p:sp>
      <p:sp>
        <p:nvSpPr>
          <p:cNvPr id="17" name="Rectangle 16"/>
          <p:cNvSpPr/>
          <p:nvPr/>
        </p:nvSpPr>
        <p:spPr>
          <a:xfrm>
            <a:off x="6126480" y="4617720"/>
            <a:ext cx="82296" cy="1234440"/>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6080760"/>
            <a:ext cx="108813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5AC4B2"/>
                </a:solidFill>
                <a:latin typeface="Arial"/>
              </a:defRPr>
            </a:pPr>
            <a:r>
              <a:t>If it isn't logged, it didn't happen; if it can't be rolled back, it doesn't ship.</a:t>
            </a:r>
          </a:p>
        </p:txBody>
      </p:sp>
      <p:sp>
        <p:nvSpPr>
          <p:cNvPr id="19" name="Rectangle 18"/>
          <p:cNvSpPr/>
          <p:nvPr/>
        </p:nvSpPr>
        <p:spPr>
          <a:xfrm>
            <a:off x="640080" y="6455664"/>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8"/>
                          </p:tgtEl>
                        </p:cond>
                      </p:stCondLst>
                      <p:childTnLst>
                        <p:par>
                          <p:cTn id="1007" fill="hold">
                            <p:childTnLst>
                              <p:set>
                                <p:cBhvr>
                                  <p:cTn id="1008" dur="0.001" fill="hold"/>
                                  <p:tgtEl>
                                    <p:spTgt spid="8"/>
                                  </p:tgtEl>
                                </p:cBhvr>
                                <p:to>
                                  <p:strVal val="visible"/>
                                </p:to>
                              </p:set>
                            </p:childTnLst>
                          </p:cTn>
                        </p:par>
                      </p:childTnLst>
                    </p:cTn>
                  </p:par>
                  <p:par>
                    <p:cTn id="1009" fill="hold">
                      <p:stCondLst>
                        <p:cond delay="indefinite" evt="onClick">
                          <p:tgtEl>
                            <p:spTgt spid="10"/>
                          </p:tgtEl>
                        </p:cond>
                      </p:stCondLst>
                      <p:childTnLst>
                        <p:par>
                          <p:cTn id="1010" fill="hold">
                            <p:childTnLst>
                              <p:set>
                                <p:cBhvr>
                                  <p:cTn id="1011" dur="0.001" fill="hold"/>
                                  <p:tgtEl>
                                    <p:spTgt spid="10"/>
                                  </p:tgtEl>
                                </p:cBhvr>
                                <p:to>
                                  <p:strVal val="visible"/>
                                </p:to>
                              </p:set>
                            </p:childTnLst>
                          </p:cTn>
                        </p:par>
                      </p:childTnLst>
                    </p:cTn>
                  </p:par>
                  <p:par>
                    <p:cTn id="1012" fill="hold">
                      <p:stCondLst>
                        <p:cond delay="indefinite" evt="onClick">
                          <p:tgtEl>
                            <p:spTgt spid="12"/>
                          </p:tgtEl>
                        </p:cond>
                      </p:stCondLst>
                      <p:childTnLst>
                        <p:par>
                          <p:cTn id="1013" fill="hold">
                            <p:childTnLst>
                              <p:set>
                                <p:cBhvr>
                                  <p:cTn id="1014" dur="0.001" fill="hold"/>
                                  <p:tgtEl>
                                    <p:spTgt spid="12"/>
                                  </p:tgtEl>
                                </p:cBhvr>
                                <p:to>
                                  <p:strVal val="visible"/>
                                </p:to>
                              </p:set>
                            </p:childTnLst>
                          </p:cTn>
                        </p:par>
                      </p:childTnLst>
                    </p:cTn>
                  </p:par>
                  <p:par>
                    <p:cTn id="1015" fill="hold">
                      <p:stCondLst>
                        <p:cond delay="indefinite" evt="onClick">
                          <p:tgtEl>
                            <p:spTgt spid="14"/>
                          </p:tgtEl>
                        </p:cond>
                      </p:stCondLst>
                      <p:childTnLst>
                        <p:par>
                          <p:cTn id="1016" fill="hold">
                            <p:childTnLst>
                              <p:set>
                                <p:cBhvr>
                                  <p:cTn id="1017" dur="0.001" fill="hold"/>
                                  <p:tgtEl>
                                    <p:spTgt spid="14"/>
                                  </p:tgtEl>
                                </p:cBhvr>
                                <p:to>
                                  <p:strVal val="visible"/>
                                </p:to>
                              </p:set>
                            </p:childTnLst>
                          </p:cTn>
                        </p:par>
                      </p:childTnLst>
                    </p:cTn>
                  </p:par>
                  <p:par>
                    <p:cTn id="1018" fill="hold">
                      <p:stCondLst>
                        <p:cond delay="indefinite" evt="onClick">
                          <p:tgtEl>
                            <p:spTgt spid="16"/>
                          </p:tgtEl>
                        </p:cond>
                      </p:stCondLst>
                      <p:childTnLst>
                        <p:par>
                          <p:cTn id="1019" fill="hold">
                            <p:childTnLst>
                              <p:set>
                                <p:cBhvr>
                                  <p:cTn id="1020" dur="0.001" fill="hold"/>
                                  <p:tgtEl>
                                    <p:spTgt spid="16"/>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8" grpId="0" build="p"/>
      <p:bldP spid="10" grpId="0" build="p"/>
      <p:bldP spid="12" grpId="0" build="p"/>
      <p:bldP spid="14" grpId="0" build="p"/>
      <p:bldP spid="16"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THE AGENTS</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Task-specific agents, grounded on your floor</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9 / 17</a:t>
            </a:r>
          </a:p>
        </p:txBody>
      </p:sp>
      <p:sp>
        <p:nvSpPr>
          <p:cNvPr id="6" name="Rounded Rectangle 5"/>
          <p:cNvSpPr/>
          <p:nvPr/>
        </p:nvSpPr>
        <p:spPr>
          <a:xfrm>
            <a:off x="640080" y="1828800"/>
            <a:ext cx="2651760" cy="41148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2651760"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29968"/>
            <a:ext cx="2377440" cy="6217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50" b="1">
                <a:solidFill>
                  <a:srgbClr val="5AC4B2"/>
                </a:solidFill>
                <a:latin typeface="Arial"/>
              </a:defRPr>
            </a:pPr>
            <a:r>
              <a:t>PREPRESS PREFLIGHT AGENT</a:t>
            </a:r>
          </a:p>
        </p:txBody>
      </p:sp>
      <p:sp>
        <p:nvSpPr>
          <p:cNvPr id="9" name="Rectangle 8"/>
          <p:cNvSpPr/>
          <p:nvPr/>
        </p:nvSpPr>
        <p:spPr>
          <a:xfrm>
            <a:off x="777240" y="2633472"/>
            <a:ext cx="23774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1">
                <a:solidFill>
                  <a:srgbClr val="B8BEC4"/>
                </a:solidFill>
                <a:latin typeface="Arial"/>
              </a:defRPr>
            </a:pPr>
            <a:r>
              <a:t>Floor: prepress</a:t>
            </a:r>
          </a:p>
        </p:txBody>
      </p:sp>
      <p:sp>
        <p:nvSpPr>
          <p:cNvPr id="10" name="Rectangle 9"/>
          <p:cNvSpPr/>
          <p:nvPr/>
        </p:nvSpPr>
        <p:spPr>
          <a:xfrm>
            <a:off x="777240" y="296265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IN — </a:t>
            </a:r>
            <a:r>
              <a:rPr sz="1100" b="0">
                <a:solidFill>
                  <a:srgbClr val="B8BEC4"/>
                </a:solidFill>
                <a:latin typeface="Arial"/>
              </a:rPr>
              <a:t>JDF ticket + incoming PDF artwork</a:t>
            </a:r>
          </a:p>
        </p:txBody>
      </p:sp>
      <p:sp>
        <p:nvSpPr>
          <p:cNvPr id="11" name="Rectangle 10"/>
          <p:cNvSpPr/>
          <p:nvPr/>
        </p:nvSpPr>
        <p:spPr>
          <a:xfrm>
            <a:off x="777240" y="369417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TOUCHES — </a:t>
            </a:r>
            <a:r>
              <a:rPr sz="1100" b="0">
                <a:solidFill>
                  <a:srgbClr val="B8BEC4"/>
                </a:solidFill>
                <a:latin typeface="Arial"/>
              </a:rPr>
              <a:t>PitStop rules, Switch flows, plate queue</a:t>
            </a:r>
          </a:p>
        </p:txBody>
      </p:sp>
      <p:sp>
        <p:nvSpPr>
          <p:cNvPr id="12" name="Rectangle 11"/>
          <p:cNvSpPr/>
          <p:nvPr/>
        </p:nvSpPr>
        <p:spPr>
          <a:xfrm>
            <a:off x="777240" y="442569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GATE — </a:t>
            </a:r>
            <a:r>
              <a:rPr sz="1100" b="0">
                <a:solidFill>
                  <a:srgbClr val="B8BEC4"/>
                </a:solidFill>
                <a:latin typeface="Arial"/>
              </a:rPr>
              <a:t>Prepress operator confirms every exception release</a:t>
            </a:r>
          </a:p>
        </p:txBody>
      </p:sp>
      <p:sp>
        <p:nvSpPr>
          <p:cNvPr id="13" name="Rectangle 12"/>
          <p:cNvSpPr/>
          <p:nvPr/>
        </p:nvSpPr>
        <p:spPr>
          <a:xfrm>
            <a:off x="777240" y="515721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BACK — </a:t>
            </a:r>
            <a:r>
              <a:rPr sz="1100" b="0">
                <a:solidFill>
                  <a:srgbClr val="B8BEC4"/>
                </a:solidFill>
                <a:latin typeface="Arial"/>
              </a:rPr>
              <a:t>Re-release the previous version from the versioned queue</a:t>
            </a:r>
          </a:p>
        </p:txBody>
      </p:sp>
      <p:sp>
        <p:nvSpPr>
          <p:cNvPr id="14" name="Rounded Rectangle 13"/>
          <p:cNvSpPr/>
          <p:nvPr/>
        </p:nvSpPr>
        <p:spPr>
          <a:xfrm>
            <a:off x="3429000" y="1828800"/>
            <a:ext cx="2651760" cy="41148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1828800"/>
            <a:ext cx="2651760" cy="82296"/>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66160" y="2029968"/>
            <a:ext cx="2377440" cy="6217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50" b="1">
                <a:solidFill>
                  <a:srgbClr val="F5923F"/>
                </a:solidFill>
                <a:latin typeface="Arial"/>
              </a:defRPr>
            </a:pPr>
            <a:r>
              <a:t>JDF / MIS MONITORING AGENT</a:t>
            </a:r>
          </a:p>
        </p:txBody>
      </p:sp>
      <p:sp>
        <p:nvSpPr>
          <p:cNvPr id="17" name="Rectangle 16"/>
          <p:cNvSpPr/>
          <p:nvPr/>
        </p:nvSpPr>
        <p:spPr>
          <a:xfrm>
            <a:off x="3566160" y="2633472"/>
            <a:ext cx="23774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1">
                <a:solidFill>
                  <a:srgbClr val="B8BEC4"/>
                </a:solidFill>
                <a:latin typeface="Arial"/>
              </a:defRPr>
            </a:pPr>
            <a:r>
              <a:t>Floor: Prinect ↔ Tharstern bridge</a:t>
            </a:r>
          </a:p>
        </p:txBody>
      </p:sp>
      <p:sp>
        <p:nvSpPr>
          <p:cNvPr id="18" name="Rectangle 17"/>
          <p:cNvSpPr/>
          <p:nvPr/>
        </p:nvSpPr>
        <p:spPr>
          <a:xfrm>
            <a:off x="3566160" y="296265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IN — </a:t>
            </a:r>
            <a:r>
              <a:rPr sz="1100" b="0">
                <a:solidFill>
                  <a:srgbClr val="B8BEC4"/>
                </a:solidFill>
                <a:latin typeface="Arial"/>
              </a:rPr>
              <a:t>Ticket stream (JDF/JMF — typical setup, to confirm)</a:t>
            </a:r>
          </a:p>
        </p:txBody>
      </p:sp>
      <p:sp>
        <p:nvSpPr>
          <p:cNvPr id="19" name="Rectangle 18"/>
          <p:cNvSpPr/>
          <p:nvPr/>
        </p:nvSpPr>
        <p:spPr>
          <a:xfrm>
            <a:off x="3566160" y="369417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TOUCHES — </a:t>
            </a:r>
            <a:r>
              <a:rPr sz="1100" b="0">
                <a:solidFill>
                  <a:srgbClr val="B8BEC4"/>
                </a:solidFill>
                <a:latin typeface="Arial"/>
              </a:rPr>
              <a:t>Read-only MIS queries, alerts, ticket notes</a:t>
            </a:r>
          </a:p>
        </p:txBody>
      </p:sp>
      <p:sp>
        <p:nvSpPr>
          <p:cNvPr id="20" name="Rectangle 19"/>
          <p:cNvSpPr/>
          <p:nvPr/>
        </p:nvSpPr>
        <p:spPr>
          <a:xfrm>
            <a:off x="3566160" y="442569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GATE — </a:t>
            </a:r>
            <a:r>
              <a:rPr sz="1100" b="0">
                <a:solidFill>
                  <a:srgbClr val="B8BEC4"/>
                </a:solidFill>
                <a:latin typeface="Arial"/>
              </a:rPr>
              <a:t>Supervisor confirms before any ticket is corrected</a:t>
            </a:r>
          </a:p>
        </p:txBody>
      </p:sp>
      <p:sp>
        <p:nvSpPr>
          <p:cNvPr id="21" name="Rectangle 20"/>
          <p:cNvSpPr/>
          <p:nvPr/>
        </p:nvSpPr>
        <p:spPr>
          <a:xfrm>
            <a:off x="3566160" y="515721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BACK — </a:t>
            </a:r>
            <a:r>
              <a:rPr sz="1100" b="0">
                <a:solidFill>
                  <a:srgbClr val="B8BEC4"/>
                </a:solidFill>
                <a:latin typeface="Arial"/>
              </a:rPr>
              <a:t>Full ticket history; revert to last-known-good</a:t>
            </a:r>
          </a:p>
        </p:txBody>
      </p:sp>
      <p:sp>
        <p:nvSpPr>
          <p:cNvPr id="22" name="Rounded Rectangle 21"/>
          <p:cNvSpPr/>
          <p:nvPr/>
        </p:nvSpPr>
        <p:spPr>
          <a:xfrm>
            <a:off x="6217920" y="1828800"/>
            <a:ext cx="2651760" cy="41148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828800"/>
            <a:ext cx="2651760" cy="82296"/>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55080" y="2029968"/>
            <a:ext cx="2377440" cy="6217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50" b="1">
                <a:solidFill>
                  <a:srgbClr val="FFE716"/>
                </a:solidFill>
                <a:latin typeface="Arial"/>
              </a:defRPr>
            </a:pPr>
            <a:r>
              <a:t>TROUBLESHOOTING CO-PILOT</a:t>
            </a:r>
          </a:p>
        </p:txBody>
      </p:sp>
      <p:sp>
        <p:nvSpPr>
          <p:cNvPr id="25" name="Rectangle 24"/>
          <p:cNvSpPr/>
          <p:nvPr/>
        </p:nvSpPr>
        <p:spPr>
          <a:xfrm>
            <a:off x="6355080" y="2633472"/>
            <a:ext cx="23774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1">
                <a:solidFill>
                  <a:srgbClr val="B8BEC4"/>
                </a:solidFill>
                <a:latin typeface="Arial"/>
              </a:defRPr>
            </a:pPr>
            <a:r>
              <a:t>Floor: IT admin</a:t>
            </a:r>
          </a:p>
        </p:txBody>
      </p:sp>
      <p:sp>
        <p:nvSpPr>
          <p:cNvPr id="26" name="Rectangle 25"/>
          <p:cNvSpPr/>
          <p:nvPr/>
        </p:nvSpPr>
        <p:spPr>
          <a:xfrm>
            <a:off x="6355080" y="296265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IN — </a:t>
            </a:r>
            <a:r>
              <a:rPr sz="1100" b="0">
                <a:solidFill>
                  <a:srgbClr val="B8BEC4"/>
                </a:solidFill>
                <a:latin typeface="Arial"/>
              </a:rPr>
              <a:t>Server, RIP, and console logs + monitoring alerts</a:t>
            </a:r>
          </a:p>
        </p:txBody>
      </p:sp>
      <p:sp>
        <p:nvSpPr>
          <p:cNvPr id="27" name="Rectangle 26"/>
          <p:cNvSpPr/>
          <p:nvPr/>
        </p:nvSpPr>
        <p:spPr>
          <a:xfrm>
            <a:off x="6355080" y="369417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TOUCHES — </a:t>
            </a:r>
            <a:r>
              <a:rPr sz="1100" b="0">
                <a:solidFill>
                  <a:srgbClr val="B8BEC4"/>
                </a:solidFill>
                <a:latin typeface="Arial"/>
              </a:rPr>
              <a:t>Read-only log search, runbook library</a:t>
            </a:r>
          </a:p>
        </p:txBody>
      </p:sp>
      <p:sp>
        <p:nvSpPr>
          <p:cNvPr id="28" name="Rectangle 27"/>
          <p:cNvSpPr/>
          <p:nvPr/>
        </p:nvSpPr>
        <p:spPr>
          <a:xfrm>
            <a:off x="6355080" y="442569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GATE — </a:t>
            </a:r>
            <a:r>
              <a:rPr sz="1100" b="0">
                <a:solidFill>
                  <a:srgbClr val="B8BEC4"/>
                </a:solidFill>
                <a:latin typeface="Arial"/>
              </a:rPr>
              <a:t>The admin approves every action — the agent never runs one</a:t>
            </a:r>
          </a:p>
        </p:txBody>
      </p:sp>
      <p:sp>
        <p:nvSpPr>
          <p:cNvPr id="29" name="Rectangle 28"/>
          <p:cNvSpPr/>
          <p:nvPr/>
        </p:nvSpPr>
        <p:spPr>
          <a:xfrm>
            <a:off x="6355080" y="515721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BACK — </a:t>
            </a:r>
            <a:r>
              <a:rPr sz="1100" b="0">
                <a:solidFill>
                  <a:srgbClr val="B8BEC4"/>
                </a:solidFill>
                <a:latin typeface="Arial"/>
              </a:rPr>
              <a:t>No autonomous changes, so nothing to roll back; all suggestions logged</a:t>
            </a:r>
          </a:p>
        </p:txBody>
      </p:sp>
      <p:sp>
        <p:nvSpPr>
          <p:cNvPr id="30" name="Rounded Rectangle 29"/>
          <p:cNvSpPr/>
          <p:nvPr/>
        </p:nvSpPr>
        <p:spPr>
          <a:xfrm>
            <a:off x="9006840" y="1828800"/>
            <a:ext cx="2651760" cy="41148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06840" y="1828800"/>
            <a:ext cx="2651760"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0" y="2029968"/>
            <a:ext cx="2377440" cy="6217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50" b="1">
                <a:solidFill>
                  <a:srgbClr val="5AC4B2"/>
                </a:solidFill>
                <a:latin typeface="Arial"/>
              </a:defRPr>
            </a:pPr>
            <a:r>
              <a:t>DOCUMENTATION AGENT</a:t>
            </a:r>
          </a:p>
        </p:txBody>
      </p:sp>
      <p:sp>
        <p:nvSpPr>
          <p:cNvPr id="33" name="Rectangle 32"/>
          <p:cNvSpPr/>
          <p:nvPr/>
        </p:nvSpPr>
        <p:spPr>
          <a:xfrm>
            <a:off x="9144000" y="2633472"/>
            <a:ext cx="23774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00" b="1">
                <a:solidFill>
                  <a:srgbClr val="B8BEC4"/>
                </a:solidFill>
                <a:latin typeface="Arial"/>
              </a:defRPr>
            </a:pPr>
            <a:r>
              <a:t>Floor: everywhere</a:t>
            </a:r>
          </a:p>
        </p:txBody>
      </p:sp>
      <p:sp>
        <p:nvSpPr>
          <p:cNvPr id="34" name="Rectangle 33"/>
          <p:cNvSpPr/>
          <p:nvPr/>
        </p:nvSpPr>
        <p:spPr>
          <a:xfrm>
            <a:off x="9144000" y="296265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IN — </a:t>
            </a:r>
            <a:r>
              <a:rPr sz="1100" b="0">
                <a:solidFill>
                  <a:srgbClr val="B8BEC4"/>
                </a:solidFill>
                <a:latin typeface="Arial"/>
              </a:rPr>
              <a:t>Ticket-system tickets + resolutions (platform to confirm)</a:t>
            </a:r>
          </a:p>
        </p:txBody>
      </p:sp>
      <p:sp>
        <p:nvSpPr>
          <p:cNvPr id="35" name="Rectangle 34"/>
          <p:cNvSpPr/>
          <p:nvPr/>
        </p:nvSpPr>
        <p:spPr>
          <a:xfrm>
            <a:off x="9144000" y="369417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TOUCHES — </a:t>
            </a:r>
            <a:r>
              <a:rPr sz="1100" b="0">
                <a:solidFill>
                  <a:srgbClr val="B8BEC4"/>
                </a:solidFill>
                <a:latin typeface="Arial"/>
              </a:rPr>
              <a:t>Ticketing API, runbook library</a:t>
            </a:r>
          </a:p>
        </p:txBody>
      </p:sp>
      <p:sp>
        <p:nvSpPr>
          <p:cNvPr id="36" name="Rectangle 35"/>
          <p:cNvSpPr/>
          <p:nvPr/>
        </p:nvSpPr>
        <p:spPr>
          <a:xfrm>
            <a:off x="9144000" y="442569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GATE — </a:t>
            </a:r>
            <a:r>
              <a:rPr sz="1100" b="0">
                <a:solidFill>
                  <a:srgbClr val="B8BEC4"/>
                </a:solidFill>
                <a:latin typeface="Arial"/>
              </a:rPr>
              <a:t>Team lead reviews every runbook before publish</a:t>
            </a:r>
          </a:p>
        </p:txBody>
      </p:sp>
      <p:sp>
        <p:nvSpPr>
          <p:cNvPr id="37" name="Rectangle 36"/>
          <p:cNvSpPr/>
          <p:nvPr/>
        </p:nvSpPr>
        <p:spPr>
          <a:xfrm>
            <a:off x="9144000" y="5157216"/>
            <a:ext cx="237744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FFFFF"/>
                </a:solidFill>
                <a:latin typeface="Arial"/>
              </a:rPr>
              <a:t>BACK — </a:t>
            </a:r>
            <a:r>
              <a:rPr sz="1100" b="0">
                <a:solidFill>
                  <a:srgbClr val="B8BEC4"/>
                </a:solidFill>
                <a:latin typeface="Arial"/>
              </a:rPr>
              <a:t>Versioned docs; restore the previous version in one click</a:t>
            </a:r>
          </a:p>
        </p:txBody>
      </p:sp>
      <p:sp>
        <p:nvSpPr>
          <p:cNvPr id="38" name="Rectangle 37"/>
          <p:cNvSpPr/>
          <p:nvPr/>
        </p:nvSpPr>
        <p:spPr>
          <a:xfrm>
            <a:off x="640080" y="6080760"/>
            <a:ext cx="108813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400" b="1">
                <a:solidFill>
                  <a:srgbClr val="5AC4B2"/>
                </a:solidFill>
                <a:latin typeface="Arial"/>
              </a:defRPr>
            </a:pPr>
            <a:r>
              <a:t>Every agent: a human in the loop on anything that ships — and a way back.</a:t>
            </a:r>
          </a:p>
        </p:txBody>
      </p:sp>
      <p:sp>
        <p:nvSpPr>
          <p:cNvPr id="1015" name="Rectangle 1014"/>
          <p:cNvSpPr/>
          <p:nvPr/>
        </p:nvSpPr>
        <p:spPr>
          <a:xfrm>
            <a:off x="640080" y="6455664"/>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14"/>
                          </p:tgtEl>
                        </p:cond>
                      </p:stCondLst>
                      <p:childTnLst>
                        <p:par>
                          <p:cTn id="1007" fill="hold">
                            <p:childTnLst>
                              <p:set>
                                <p:cBhvr>
                                  <p:cTn id="1008" dur="0.001" fill="hold"/>
                                  <p:tgtEl>
                                    <p:spTgt spid="14"/>
                                  </p:tgtEl>
                                </p:cBhvr>
                                <p:to>
                                  <p:strVal val="visible"/>
                                </p:to>
                              </p:set>
                            </p:childTnLst>
                          </p:cTn>
                        </p:par>
                      </p:childTnLst>
                    </p:cTn>
                  </p:par>
                  <p:par>
                    <p:cTn id="1009" fill="hold">
                      <p:stCondLst>
                        <p:cond delay="indefinite" evt="onClick">
                          <p:tgtEl>
                            <p:spTgt spid="22"/>
                          </p:tgtEl>
                        </p:cond>
                      </p:stCondLst>
                      <p:childTnLst>
                        <p:par>
                          <p:cTn id="1010" fill="hold">
                            <p:childTnLst>
                              <p:set>
                                <p:cBhvr>
                                  <p:cTn id="1011" dur="0.001" fill="hold"/>
                                  <p:tgtEl>
                                    <p:spTgt spid="22"/>
                                  </p:tgtEl>
                                </p:cBhvr>
                                <p:to>
                                  <p:strVal val="visible"/>
                                </p:to>
                              </p:set>
                            </p:childTnLst>
                          </p:cTn>
                        </p:par>
                      </p:childTnLst>
                    </p:cTn>
                  </p:par>
                  <p:par>
                    <p:cTn id="1012" fill="hold">
                      <p:stCondLst>
                        <p:cond delay="indefinite" evt="onClick">
                          <p:tgtEl>
                            <p:spTgt spid="30"/>
                          </p:tgtEl>
                        </p:cond>
                      </p:stCondLst>
                      <p:childTnLst>
                        <p:par>
                          <p:cTn id="1013" fill="hold">
                            <p:childTnLst>
                              <p:set>
                                <p:cBhvr>
                                  <p:cTn id="1014" dur="0.001" fill="hold"/>
                                  <p:tgtEl>
                                    <p:spTgt spid="30"/>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14" grpId="0" build="p"/>
      <p:bldP spid="22" grpId="0" build="p"/>
      <p:bldP spid="30"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DASHBOARD MOCK</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What the floor could see every morning</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10 / 17</a:t>
            </a:r>
          </a:p>
        </p:txBody>
      </p:sp>
      <p:sp>
        <p:nvSpPr>
          <p:cNvPr id="6" name="Rounded Rectangle 5"/>
          <p:cNvSpPr/>
          <p:nvPr/>
        </p:nvSpPr>
        <p:spPr>
          <a:xfrm>
            <a:off x="640080" y="1783080"/>
            <a:ext cx="10881360" cy="457200"/>
          </a:xfrm>
          <a:prstGeom prst="roundRect">
            <a:avLst>
              <a:gd name="adj" fmla="val 25000"/>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500" b="1">
                <a:solidFill>
                  <a:srgbClr val="23282E"/>
                </a:solidFill>
                <a:latin typeface="Arial"/>
              </a:defRPr>
            </a:pPr>
            <a:r>
              <a:t>ILLUSTRATIVE TARGETS — NOT THE COMPANY DATA</a:t>
            </a:r>
          </a:p>
        </p:txBody>
      </p:sp>
      <p:graphicFrame>
        <p:nvGraphicFramePr>
          <p:cNvPr id="7" name="Chart 6"/>
          <p:cNvGraphicFramePr>
            <a:graphicFrameLocks noGrp="1"/>
          </p:cNvGraphicFramePr>
          <p:nvPr/>
        </p:nvGraphicFramePr>
        <p:xfrm>
          <a:off x="640080" y="2423160"/>
          <a:ext cx="3383280" cy="22860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4343400" y="2423160"/>
          <a:ext cx="3383280" cy="22860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8046720" y="2423160"/>
          <a:ext cx="3383280" cy="2286000"/>
        </p:xfrm>
        <a:graphic>
          <a:graphicData uri="http://schemas.openxmlformats.org/drawingml/2006/chart">
            <c:chart xmlns:c="http://schemas.openxmlformats.org/drawingml/2006/chart" r:id="rId4"/>
          </a:graphicData>
        </a:graphic>
      </p:graphicFrame>
      <p:sp>
        <p:nvSpPr>
          <p:cNvPr id="10" name="Rounded Rectangle 9"/>
          <p:cNvSpPr/>
          <p:nvPr/>
        </p:nvSpPr>
        <p:spPr>
          <a:xfrm>
            <a:off x="640080" y="4892040"/>
            <a:ext cx="10881360" cy="1234440"/>
          </a:xfrm>
          <a:prstGeom prst="roundRect">
            <a:avLst>
              <a:gd name="adj" fmla="val 5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4983480"/>
            <a:ext cx="1033272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5AC4B2"/>
                </a:solidFill>
                <a:latin typeface="Arial"/>
              </a:defRPr>
            </a:pPr>
            <a:r>
              <a:t>AI PROJECT PIPELINE</a:t>
            </a:r>
          </a:p>
        </p:txBody>
      </p:sp>
      <p:sp>
        <p:nvSpPr>
          <p:cNvPr id="12" name="Rounded Rectangle 11"/>
          <p:cNvSpPr/>
          <p:nvPr/>
        </p:nvSpPr>
        <p:spPr>
          <a:xfrm>
            <a:off x="914400" y="5321808"/>
            <a:ext cx="1371600" cy="274320"/>
          </a:xfrm>
          <a:prstGeom prst="roundRect">
            <a:avLst>
              <a:gd name="adj" fmla="val 30000"/>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000" b="1">
                <a:solidFill>
                  <a:srgbClr val="23282E"/>
                </a:solidFill>
                <a:latin typeface="Arial"/>
              </a:defRPr>
            </a:pPr>
            <a:r>
              <a:t>PILOT</a:t>
            </a:r>
          </a:p>
        </p:txBody>
      </p:sp>
      <p:sp>
        <p:nvSpPr>
          <p:cNvPr id="13" name="Rectangle 12"/>
          <p:cNvSpPr/>
          <p:nvPr/>
        </p:nvSpPr>
        <p:spPr>
          <a:xfrm>
            <a:off x="2468880" y="5321808"/>
            <a:ext cx="8686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Closed-loop color analytics — drift alerts from Image Control data</a:t>
            </a:r>
          </a:p>
        </p:txBody>
      </p:sp>
      <p:sp>
        <p:nvSpPr>
          <p:cNvPr id="14" name="Rounded Rectangle 13"/>
          <p:cNvSpPr/>
          <p:nvPr/>
        </p:nvSpPr>
        <p:spPr>
          <a:xfrm>
            <a:off x="914400" y="5596128"/>
            <a:ext cx="1371600" cy="274320"/>
          </a:xfrm>
          <a:prstGeom prst="roundRect">
            <a:avLst>
              <a:gd name="adj" fmla="val 30000"/>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000" b="1">
                <a:solidFill>
                  <a:srgbClr val="23282E"/>
                </a:solidFill>
                <a:latin typeface="Arial"/>
              </a:defRPr>
            </a:pPr>
            <a:r>
              <a:t>IN PROGRESS</a:t>
            </a:r>
          </a:p>
        </p:txBody>
      </p:sp>
      <p:sp>
        <p:nvSpPr>
          <p:cNvPr id="15" name="Rectangle 14"/>
          <p:cNvSpPr/>
          <p:nvPr/>
        </p:nvSpPr>
        <p:spPr>
          <a:xfrm>
            <a:off x="2468880" y="5596128"/>
            <a:ext cx="8686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OT VLAN + telemetry capture across all presses</a:t>
            </a:r>
          </a:p>
        </p:txBody>
      </p:sp>
      <p:sp>
        <p:nvSpPr>
          <p:cNvPr id="16" name="Rounded Rectangle 15"/>
          <p:cNvSpPr/>
          <p:nvPr/>
        </p:nvSpPr>
        <p:spPr>
          <a:xfrm>
            <a:off x="914400" y="5870448"/>
            <a:ext cx="1371600" cy="274320"/>
          </a:xfrm>
          <a:prstGeom prst="roundRect">
            <a:avLst>
              <a:gd name="adj" fmla="val 30000"/>
            </a:avLst>
          </a:prstGeom>
          <a:solidFill>
            <a:srgbClr val="B8BEC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000" b="1">
                <a:solidFill>
                  <a:srgbClr val="FFFFFF"/>
                </a:solidFill>
                <a:latin typeface="Arial"/>
              </a:defRPr>
            </a:pPr>
            <a:r>
              <a:t>PLANNED</a:t>
            </a:r>
          </a:p>
        </p:txBody>
      </p:sp>
      <p:sp>
        <p:nvSpPr>
          <p:cNvPr id="17" name="Rectangle 16"/>
          <p:cNvSpPr/>
          <p:nvPr/>
        </p:nvSpPr>
        <p:spPr>
          <a:xfrm>
            <a:off x="2468880" y="5870448"/>
            <a:ext cx="8686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0">
                <a:solidFill>
                  <a:srgbClr val="FFFFFF"/>
                </a:solidFill>
                <a:latin typeface="Arial"/>
              </a:defRPr>
            </a:pPr>
            <a:r>
              <a:t>Preflight automation · predictive maintenance model · MIS anomaly detection</a:t>
            </a:r>
          </a:p>
        </p:txBody>
      </p:sp>
      <p:sp>
        <p:nvSpPr>
          <p:cNvPr id="18" name="Rectangle 17"/>
          <p:cNvSpPr/>
          <p:nvPr/>
        </p:nvSpPr>
        <p:spPr>
          <a:xfrm>
            <a:off x="640080" y="6263640"/>
            <a:ext cx="1088136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defRPr sz="1200" b="0">
                <a:solidFill>
                  <a:srgbClr val="B8BEC4"/>
                </a:solidFill>
                <a:latin typeface="Arial"/>
              </a:defRPr>
            </a:pPr>
            <a:r>
              <a:t>Each KPI ties to a measurable outcome — time saved, waste avoided, makeready shortened.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THE ULTRAPLAN — WHAT I WOULD BUILD IN YEAR ONE (1 OF 2)</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Phases 0–2: audit, foundation, pilots</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11 / 17</a:t>
            </a:r>
          </a:p>
        </p:txBody>
      </p:sp>
      <p:sp>
        <p:nvSpPr>
          <p:cNvPr id="6" name="Rounded Rectangle 5"/>
          <p:cNvSpPr/>
          <p:nvPr/>
        </p:nvSpPr>
        <p:spPr>
          <a:xfrm>
            <a:off x="640080" y="1828800"/>
            <a:ext cx="3474720" cy="43434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3474720"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38528"/>
            <a:ext cx="320040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1">
                <a:solidFill>
                  <a:srgbClr val="5AC4B2"/>
                </a:solidFill>
                <a:latin typeface="Arial"/>
              </a:defRPr>
            </a:pPr>
            <a:r>
              <a:t>PHASE 0 — AUDIT</a:t>
            </a:r>
          </a:p>
        </p:txBody>
      </p:sp>
      <p:sp>
        <p:nvSpPr>
          <p:cNvPr id="9" name="Rectangle 8"/>
          <p:cNvSpPr/>
          <p:nvPr/>
        </p:nvSpPr>
        <p:spPr>
          <a:xfrm>
            <a:off x="777240" y="2331720"/>
            <a:ext cx="32004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00" b="1">
                <a:solidFill>
                  <a:srgbClr val="FFFFFF"/>
                </a:solidFill>
                <a:latin typeface="Arial"/>
              </a:defRPr>
            </a:pPr>
            <a:r>
              <a:t>Weeks 1–4</a:t>
            </a:r>
          </a:p>
        </p:txBody>
      </p:sp>
      <p:sp>
        <p:nvSpPr>
          <p:cNvPr id="10" name="Rectangle 9"/>
          <p:cNvSpPr/>
          <p:nvPr/>
        </p:nvSpPr>
        <p:spPr>
          <a:xfrm>
            <a:off x="777240" y="2697480"/>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5AC4B2"/>
                </a:solidFill>
                <a:latin typeface="Arial"/>
              </a:rPr>
              <a:t>OWNER: </a:t>
            </a:r>
            <a:r>
              <a:rPr sz="1150" b="0">
                <a:solidFill>
                  <a:srgbClr val="FFFFFF"/>
                </a:solidFill>
                <a:latin typeface="Arial"/>
              </a:rPr>
              <a:t>Me — I own the audit end to end</a:t>
            </a:r>
          </a:p>
        </p:txBody>
      </p:sp>
      <p:sp>
        <p:nvSpPr>
          <p:cNvPr id="11" name="Rectangle 10"/>
          <p:cNvSpPr/>
          <p:nvPr/>
        </p:nvSpPr>
        <p:spPr>
          <a:xfrm>
            <a:off x="777240" y="3557016"/>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5AC4B2"/>
                </a:solidFill>
                <a:latin typeface="Arial"/>
              </a:rPr>
              <a:t>DEPENDENCIES: </a:t>
            </a:r>
            <a:r>
              <a:rPr sz="1150" b="0">
                <a:solidFill>
                  <a:srgbClr val="FFFFFF"/>
                </a:solidFill>
                <a:latin typeface="Arial"/>
              </a:rPr>
              <a:t>Floor-walk access, MIS &amp; prepress data export permissions, time with prepress, press, and IT staff</a:t>
            </a:r>
          </a:p>
        </p:txBody>
      </p:sp>
      <p:sp>
        <p:nvSpPr>
          <p:cNvPr id="12" name="Rectangle 11"/>
          <p:cNvSpPr/>
          <p:nvPr/>
        </p:nvSpPr>
        <p:spPr>
          <a:xfrm>
            <a:off x="777240" y="4416552"/>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5AC4B2"/>
                </a:solidFill>
                <a:latin typeface="Arial"/>
              </a:rPr>
              <a:t>RISKS: </a:t>
            </a:r>
            <a:r>
              <a:rPr sz="1150" b="0">
                <a:solidFill>
                  <a:srgbClr val="FFFFFF"/>
                </a:solidFill>
                <a:latin typeface="Arial"/>
              </a:rPr>
              <a:t>Baselines skew if the floor is too busy — mitigate by shadowing shifts, not interviews alone</a:t>
            </a:r>
          </a:p>
        </p:txBody>
      </p:sp>
      <p:sp>
        <p:nvSpPr>
          <p:cNvPr id="13" name="Rectangle 12"/>
          <p:cNvSpPr/>
          <p:nvPr/>
        </p:nvSpPr>
        <p:spPr>
          <a:xfrm>
            <a:off x="777240" y="5276088"/>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5AC4B2"/>
                </a:solidFill>
                <a:latin typeface="Arial"/>
              </a:rPr>
              <a:t>SUCCESS: </a:t>
            </a:r>
            <a:r>
              <a:rPr sz="1150" b="0">
                <a:solidFill>
                  <a:srgbClr val="FFFFFF"/>
                </a:solidFill>
                <a:latin typeface="Arial"/>
              </a:rPr>
              <a:t>Catalog of every repetitive task with hour baselines, ranked by effort vs. impact; first pilots chosen</a:t>
            </a:r>
          </a:p>
        </p:txBody>
      </p:sp>
      <p:sp>
        <p:nvSpPr>
          <p:cNvPr id="14" name="Rounded Rectangle 13"/>
          <p:cNvSpPr/>
          <p:nvPr/>
        </p:nvSpPr>
        <p:spPr>
          <a:xfrm>
            <a:off x="4343400" y="1828800"/>
            <a:ext cx="3474720" cy="43434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828800"/>
            <a:ext cx="3474720" cy="82296"/>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1938528"/>
            <a:ext cx="320040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1">
                <a:solidFill>
                  <a:srgbClr val="F5923F"/>
                </a:solidFill>
                <a:latin typeface="Arial"/>
              </a:defRPr>
            </a:pPr>
            <a:r>
              <a:t>PHASE 1 — FOUNDATION</a:t>
            </a:r>
          </a:p>
        </p:txBody>
      </p:sp>
      <p:sp>
        <p:nvSpPr>
          <p:cNvPr id="17" name="Rectangle 16"/>
          <p:cNvSpPr/>
          <p:nvPr/>
        </p:nvSpPr>
        <p:spPr>
          <a:xfrm>
            <a:off x="4480560" y="2331720"/>
            <a:ext cx="32004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00" b="1">
                <a:solidFill>
                  <a:srgbClr val="FFFFFF"/>
                </a:solidFill>
                <a:latin typeface="Arial"/>
              </a:defRPr>
            </a:pPr>
            <a:r>
              <a:t>Inference, router, OT segmentation</a:t>
            </a:r>
          </a:p>
        </p:txBody>
      </p:sp>
      <p:sp>
        <p:nvSpPr>
          <p:cNvPr id="18" name="Rectangle 17"/>
          <p:cNvSpPr/>
          <p:nvPr/>
        </p:nvSpPr>
        <p:spPr>
          <a:xfrm>
            <a:off x="4480560" y="2697480"/>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5923F"/>
                </a:solidFill>
                <a:latin typeface="Arial"/>
              </a:rPr>
              <a:t>OWNER: </a:t>
            </a:r>
            <a:r>
              <a:rPr sz="1150" b="0">
                <a:solidFill>
                  <a:srgbClr val="FFFFFF"/>
                </a:solidFill>
                <a:latin typeface="Arial"/>
              </a:rPr>
              <a:t>Me — architecture, build, and change control</a:t>
            </a:r>
          </a:p>
        </p:txBody>
      </p:sp>
      <p:sp>
        <p:nvSpPr>
          <p:cNvPr id="19" name="Rectangle 18"/>
          <p:cNvSpPr/>
          <p:nvPr/>
        </p:nvSpPr>
        <p:spPr>
          <a:xfrm>
            <a:off x="4480560" y="3557016"/>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5923F"/>
                </a:solidFill>
                <a:latin typeface="Arial"/>
              </a:rPr>
              <a:t>DEPENDENCIES: </a:t>
            </a:r>
            <a:r>
              <a:rPr sz="1150" b="0">
                <a:solidFill>
                  <a:srgbClr val="FFFFFF"/>
                </a:solidFill>
                <a:latin typeface="Arial"/>
              </a:rPr>
              <a:t>GPU hardware procured; OT change windows that never stop a press run; vendor remote-access policy aligned</a:t>
            </a:r>
          </a:p>
        </p:txBody>
      </p:sp>
      <p:sp>
        <p:nvSpPr>
          <p:cNvPr id="20" name="Rectangle 19"/>
          <p:cNvSpPr/>
          <p:nvPr/>
        </p:nvSpPr>
        <p:spPr>
          <a:xfrm>
            <a:off x="4480560" y="4416552"/>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5923F"/>
                </a:solidFill>
                <a:latin typeface="Arial"/>
              </a:rPr>
              <a:t>RISKS: </a:t>
            </a:r>
            <a:r>
              <a:rPr sz="1150" b="0">
                <a:solidFill>
                  <a:srgbClr val="FFFFFF"/>
                </a:solidFill>
                <a:latin typeface="Arial"/>
              </a:rPr>
              <a:t>Legacy consoles resist segmentation — mitigate with staged cutover and a rollback plan</a:t>
            </a:r>
          </a:p>
        </p:txBody>
      </p:sp>
      <p:sp>
        <p:nvSpPr>
          <p:cNvPr id="21" name="Rectangle 20"/>
          <p:cNvSpPr/>
          <p:nvPr/>
        </p:nvSpPr>
        <p:spPr>
          <a:xfrm>
            <a:off x="4480560" y="5276088"/>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5923F"/>
                </a:solidFill>
                <a:latin typeface="Arial"/>
              </a:rPr>
              <a:t>SUCCESS: </a:t>
            </a:r>
            <a:r>
              <a:rPr sz="1150" b="0">
                <a:solidFill>
                  <a:srgbClr val="FFFFFF"/>
                </a:solidFill>
                <a:latin typeface="Arial"/>
              </a:rPr>
              <a:t>Router + audit logging live on 100% of AI requests; presses on segmented OT with zero production downtime</a:t>
            </a:r>
          </a:p>
        </p:txBody>
      </p:sp>
      <p:sp>
        <p:nvSpPr>
          <p:cNvPr id="22" name="Rounded Rectangle 21"/>
          <p:cNvSpPr/>
          <p:nvPr/>
        </p:nvSpPr>
        <p:spPr>
          <a:xfrm>
            <a:off x="8046720" y="1828800"/>
            <a:ext cx="3474720" cy="43434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1828800"/>
            <a:ext cx="3474720" cy="82296"/>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83880" y="1938528"/>
            <a:ext cx="320040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1">
                <a:solidFill>
                  <a:srgbClr val="FFE716"/>
                </a:solidFill>
                <a:latin typeface="Arial"/>
              </a:defRPr>
            </a:pPr>
            <a:r>
              <a:t>PHASE 2 — PILOTS</a:t>
            </a:r>
          </a:p>
        </p:txBody>
      </p:sp>
      <p:sp>
        <p:nvSpPr>
          <p:cNvPr id="25" name="Rectangle 24"/>
          <p:cNvSpPr/>
          <p:nvPr/>
        </p:nvSpPr>
        <p:spPr>
          <a:xfrm>
            <a:off x="8183880" y="2331720"/>
            <a:ext cx="32004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00" b="1">
                <a:solidFill>
                  <a:srgbClr val="FFFFFF"/>
                </a:solidFill>
                <a:latin typeface="Arial"/>
              </a:defRPr>
            </a:pPr>
            <a:r>
              <a:t>2–3 agents live, measured before/after</a:t>
            </a:r>
          </a:p>
        </p:txBody>
      </p:sp>
      <p:sp>
        <p:nvSpPr>
          <p:cNvPr id="26" name="Rectangle 25"/>
          <p:cNvSpPr/>
          <p:nvPr/>
        </p:nvSpPr>
        <p:spPr>
          <a:xfrm>
            <a:off x="8183880" y="2697480"/>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FE716"/>
                </a:solidFill>
                <a:latin typeface="Arial"/>
              </a:rPr>
              <a:t>OWNER: </a:t>
            </a:r>
            <a:r>
              <a:rPr sz="1150" b="0">
                <a:solidFill>
                  <a:srgbClr val="FFFFFF"/>
                </a:solidFill>
                <a:latin typeface="Arial"/>
              </a:rPr>
              <a:t>Me — pilot delivery and measurement</a:t>
            </a:r>
          </a:p>
        </p:txBody>
      </p:sp>
      <p:sp>
        <p:nvSpPr>
          <p:cNvPr id="27" name="Rectangle 26"/>
          <p:cNvSpPr/>
          <p:nvPr/>
        </p:nvSpPr>
        <p:spPr>
          <a:xfrm>
            <a:off x="8183880" y="3557016"/>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FE716"/>
                </a:solidFill>
                <a:latin typeface="Arial"/>
              </a:rPr>
              <a:t>DEPENDENCIES: </a:t>
            </a:r>
            <a:r>
              <a:rPr sz="1150" b="0">
                <a:solidFill>
                  <a:srgbClr val="FFFFFF"/>
                </a:solidFill>
                <a:latin typeface="Arial"/>
              </a:rPr>
              <a:t>Baseline data from Phase 0; eval harness from Phase 1; operator buy-in; Jev early-access (waitlist)</a:t>
            </a:r>
          </a:p>
        </p:txBody>
      </p:sp>
      <p:sp>
        <p:nvSpPr>
          <p:cNvPr id="28" name="Rectangle 27"/>
          <p:cNvSpPr/>
          <p:nvPr/>
        </p:nvSpPr>
        <p:spPr>
          <a:xfrm>
            <a:off x="8183880" y="4416552"/>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FE716"/>
                </a:solidFill>
                <a:latin typeface="Arial"/>
              </a:rPr>
              <a:t>RISKS: </a:t>
            </a:r>
            <a:r>
              <a:rPr sz="1150" b="0">
                <a:solidFill>
                  <a:srgbClr val="FFFFFF"/>
                </a:solidFill>
                <a:latin typeface="Arial"/>
              </a:rPr>
              <a:t>Pilot scope creep — mitigate with a fixed 4-week measurement window; open-weights contingency built in parallel if Jev access stalls</a:t>
            </a:r>
          </a:p>
        </p:txBody>
      </p:sp>
      <p:sp>
        <p:nvSpPr>
          <p:cNvPr id="29" name="Rectangle 28"/>
          <p:cNvSpPr/>
          <p:nvPr/>
        </p:nvSpPr>
        <p:spPr>
          <a:xfrm>
            <a:off x="8183880" y="5276088"/>
            <a:ext cx="320040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50" b="0">
                <a:solidFill>
                  <a:srgbClr val="FFFFFF"/>
                </a:solidFill>
                <a:latin typeface="Arial"/>
              </a:defRPr>
            </a:pPr>
            <a:r>
              <a:rPr sz="1150" b="1">
                <a:solidFill>
                  <a:srgbClr val="FFE716"/>
                </a:solidFill>
                <a:latin typeface="Arial"/>
              </a:rPr>
              <a:t>SUCCESS: </a:t>
            </a:r>
            <a:r>
              <a:rPr sz="1150" b="0">
                <a:solidFill>
                  <a:srgbClr val="FFFFFF"/>
                </a:solidFill>
                <a:latin typeface="Arial"/>
              </a:rPr>
              <a:t>Measured before/after per pilot: time saved, waste avoided; documented go / no-go decisions</a:t>
            </a:r>
          </a:p>
        </p:txBody>
      </p:sp>
      <p:sp>
        <p:nvSpPr>
          <p:cNvPr id="1012" name="Rectangle 1011"/>
          <p:cNvSpPr/>
          <p:nvPr/>
        </p:nvSpPr>
        <p:spPr>
          <a:xfrm>
            <a:off x="640080" y="6263640"/>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14"/>
                          </p:tgtEl>
                        </p:cond>
                      </p:stCondLst>
                      <p:childTnLst>
                        <p:par>
                          <p:cTn id="1007" fill="hold">
                            <p:childTnLst>
                              <p:set>
                                <p:cBhvr>
                                  <p:cTn id="1008" dur="0.001" fill="hold"/>
                                  <p:tgtEl>
                                    <p:spTgt spid="14"/>
                                  </p:tgtEl>
                                </p:cBhvr>
                                <p:to>
                                  <p:strVal val="visible"/>
                                </p:to>
                              </p:set>
                            </p:childTnLst>
                          </p:cTn>
                        </p:par>
                      </p:childTnLst>
                    </p:cTn>
                  </p:par>
                  <p:par>
                    <p:cTn id="1009" fill="hold">
                      <p:stCondLst>
                        <p:cond delay="indefinite" evt="onClick">
                          <p:tgtEl>
                            <p:spTgt spid="22"/>
                          </p:tgtEl>
                        </p:cond>
                      </p:stCondLst>
                      <p:childTnLst>
                        <p:par>
                          <p:cTn id="1010" fill="hold">
                            <p:childTnLst>
                              <p:set>
                                <p:cBhvr>
                                  <p:cTn id="1011" dur="0.001" fill="hold"/>
                                  <p:tgtEl>
                                    <p:spTgt spid="22"/>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14" grpId="0" build="p"/>
      <p:bldP spid="22"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THE ULTRAPLAN — WHAT I WOULD BUILD IN YEAR ONE (2 OF 2)</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Phases 3–4: rollout, then never stop improving</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12 / 17</a:t>
            </a:r>
          </a:p>
        </p:txBody>
      </p:sp>
      <p:sp>
        <p:nvSpPr>
          <p:cNvPr id="6" name="Rounded Rectangle 5"/>
          <p:cNvSpPr/>
          <p:nvPr/>
        </p:nvSpPr>
        <p:spPr>
          <a:xfrm>
            <a:off x="640080" y="1828800"/>
            <a:ext cx="6126480" cy="20574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6126480" cy="82296"/>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1956816"/>
            <a:ext cx="56692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5AC4B2"/>
                </a:solidFill>
                <a:latin typeface="Arial"/>
              </a:defRPr>
            </a:pPr>
            <a:r>
              <a:t>PHASE 3 — ROLLOUT</a:t>
            </a:r>
          </a:p>
        </p:txBody>
      </p:sp>
      <p:sp>
        <p:nvSpPr>
          <p:cNvPr id="9" name="Rectangle 8"/>
          <p:cNvSpPr/>
          <p:nvPr/>
        </p:nvSpPr>
        <p:spPr>
          <a:xfrm>
            <a:off x="914400" y="2304288"/>
            <a:ext cx="56692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50" b="1">
                <a:solidFill>
                  <a:srgbClr val="FFFFFF"/>
                </a:solidFill>
                <a:latin typeface="Arial"/>
              </a:defRPr>
            </a:pPr>
            <a:r>
              <a:t>Fleet-wide: CD 102, Indigo 200K, pouch line, prepress</a:t>
            </a:r>
          </a:p>
        </p:txBody>
      </p:sp>
      <p:sp>
        <p:nvSpPr>
          <p:cNvPr id="10" name="Rectangle 9"/>
          <p:cNvSpPr/>
          <p:nvPr/>
        </p:nvSpPr>
        <p:spPr>
          <a:xfrm>
            <a:off x="914400" y="2633472"/>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5AC4B2"/>
                </a:solidFill>
                <a:latin typeface="Arial"/>
              </a:rPr>
              <a:t>OWNER: </a:t>
            </a:r>
            <a:r>
              <a:rPr sz="1100" b="0">
                <a:solidFill>
                  <a:srgbClr val="FFFFFF"/>
                </a:solidFill>
                <a:latin typeface="Arial"/>
              </a:rPr>
              <a:t>Me — rollout sequencing and eval gates</a:t>
            </a:r>
          </a:p>
        </p:txBody>
      </p:sp>
      <p:sp>
        <p:nvSpPr>
          <p:cNvPr id="11" name="Rectangle 10"/>
          <p:cNvSpPr/>
          <p:nvPr/>
        </p:nvSpPr>
        <p:spPr>
          <a:xfrm>
            <a:off x="914400" y="2944368"/>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5AC4B2"/>
                </a:solidFill>
                <a:latin typeface="Arial"/>
              </a:rPr>
              <a:t>DEPENDENCIES: </a:t>
            </a:r>
            <a:r>
              <a:rPr sz="1100" b="0">
                <a:solidFill>
                  <a:srgbClr val="FFFFFF"/>
                </a:solidFill>
                <a:latin typeface="Arial"/>
              </a:rPr>
              <a:t>Measured pilot results; operator training complete; eval suite per press</a:t>
            </a:r>
          </a:p>
        </p:txBody>
      </p:sp>
      <p:sp>
        <p:nvSpPr>
          <p:cNvPr id="12" name="Rectangle 11"/>
          <p:cNvSpPr/>
          <p:nvPr/>
        </p:nvSpPr>
        <p:spPr>
          <a:xfrm>
            <a:off x="914400" y="3255263"/>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5AC4B2"/>
                </a:solidFill>
                <a:latin typeface="Arial"/>
              </a:rPr>
              <a:t>RISKS: </a:t>
            </a:r>
            <a:r>
              <a:rPr sz="1100" b="0">
                <a:solidFill>
                  <a:srgbClr val="FFFFFF"/>
                </a:solidFill>
                <a:latin typeface="Arial"/>
              </a:rPr>
              <a:t>Model behavior varies per press — mitigate with per-press tuning and eval gates</a:t>
            </a:r>
          </a:p>
        </p:txBody>
      </p:sp>
      <p:sp>
        <p:nvSpPr>
          <p:cNvPr id="13" name="Rectangle 12"/>
          <p:cNvSpPr/>
          <p:nvPr/>
        </p:nvSpPr>
        <p:spPr>
          <a:xfrm>
            <a:off x="914400" y="3566159"/>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5AC4B2"/>
                </a:solidFill>
                <a:latin typeface="Arial"/>
              </a:rPr>
              <a:t>SUCCESS: </a:t>
            </a:r>
            <a:r>
              <a:rPr sz="1100" b="0">
                <a:solidFill>
                  <a:srgbClr val="FFFFFF"/>
                </a:solidFill>
                <a:latin typeface="Arial"/>
              </a:rPr>
              <a:t>Every press and line on the KPI dashboard; each rollout passes its eval gate</a:t>
            </a:r>
          </a:p>
        </p:txBody>
      </p:sp>
      <p:sp>
        <p:nvSpPr>
          <p:cNvPr id="14" name="Rounded Rectangle 13"/>
          <p:cNvSpPr/>
          <p:nvPr/>
        </p:nvSpPr>
        <p:spPr>
          <a:xfrm>
            <a:off x="640080" y="4023360"/>
            <a:ext cx="6126480" cy="2057400"/>
          </a:xfrm>
          <a:prstGeom prst="roundRect">
            <a:avLst>
              <a:gd name="adj" fmla="val 5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023360"/>
            <a:ext cx="6126480" cy="82296"/>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4151376"/>
            <a:ext cx="56692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5923F"/>
                </a:solidFill>
                <a:latin typeface="Arial"/>
              </a:defRPr>
            </a:pPr>
            <a:r>
              <a:t>PHASE 4 — CONTINUOUS IMPROVEMENT</a:t>
            </a:r>
          </a:p>
        </p:txBody>
      </p:sp>
      <p:sp>
        <p:nvSpPr>
          <p:cNvPr id="17" name="Rectangle 16"/>
          <p:cNvSpPr/>
          <p:nvPr/>
        </p:nvSpPr>
        <p:spPr>
          <a:xfrm>
            <a:off x="914400" y="4498848"/>
            <a:ext cx="56692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150" b="1">
                <a:solidFill>
                  <a:srgbClr val="FFFFFF"/>
                </a:solidFill>
                <a:latin typeface="Arial"/>
              </a:defRPr>
            </a:pPr>
            <a:r>
              <a:t>Evals, refresh cadence, responsible-AI training</a:t>
            </a:r>
          </a:p>
        </p:txBody>
      </p:sp>
      <p:sp>
        <p:nvSpPr>
          <p:cNvPr id="18" name="Rectangle 17"/>
          <p:cNvSpPr/>
          <p:nvPr/>
        </p:nvSpPr>
        <p:spPr>
          <a:xfrm>
            <a:off x="914400" y="4828032"/>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5923F"/>
                </a:solidFill>
                <a:latin typeface="Arial"/>
              </a:rPr>
              <a:t>OWNER: </a:t>
            </a:r>
            <a:r>
              <a:rPr sz="1100" b="0">
                <a:solidFill>
                  <a:srgbClr val="FFFFFF"/>
                </a:solidFill>
                <a:latin typeface="Arial"/>
              </a:rPr>
              <a:t>Me — standing program ownership</a:t>
            </a:r>
          </a:p>
        </p:txBody>
      </p:sp>
      <p:sp>
        <p:nvSpPr>
          <p:cNvPr id="19" name="Rectangle 18"/>
          <p:cNvSpPr/>
          <p:nvPr/>
        </p:nvSpPr>
        <p:spPr>
          <a:xfrm>
            <a:off x="914400" y="5138928"/>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5923F"/>
                </a:solidFill>
                <a:latin typeface="Arial"/>
              </a:rPr>
              <a:t>DEPENDENCIES: </a:t>
            </a:r>
            <a:r>
              <a:rPr sz="1100" b="0">
                <a:solidFill>
                  <a:srgbClr val="FFFFFF"/>
                </a:solidFill>
                <a:latin typeface="Arial"/>
              </a:rPr>
              <a:t>GPU maintenance budget; quarterly training slots with the team</a:t>
            </a:r>
          </a:p>
        </p:txBody>
      </p:sp>
      <p:sp>
        <p:nvSpPr>
          <p:cNvPr id="20" name="Rectangle 19"/>
          <p:cNvSpPr/>
          <p:nvPr/>
        </p:nvSpPr>
        <p:spPr>
          <a:xfrm>
            <a:off x="914400" y="5449824"/>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5923F"/>
                </a:solidFill>
                <a:latin typeface="Arial"/>
              </a:rPr>
              <a:t>RISKS: </a:t>
            </a:r>
            <a:r>
              <a:rPr sz="1100" b="0">
                <a:solidFill>
                  <a:srgbClr val="FFFFFF"/>
                </a:solidFill>
                <a:latin typeface="Arial"/>
              </a:rPr>
              <a:t>Model drift over time; staff turnover — mitigate with the eval harness and documented runbooks</a:t>
            </a:r>
          </a:p>
        </p:txBody>
      </p:sp>
      <p:sp>
        <p:nvSpPr>
          <p:cNvPr id="21" name="Rectangle 20"/>
          <p:cNvSpPr/>
          <p:nvPr/>
        </p:nvSpPr>
        <p:spPr>
          <a:xfrm>
            <a:off x="914400" y="5760720"/>
            <a:ext cx="56692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100" b="0">
                <a:solidFill>
                  <a:srgbClr val="FFFFFF"/>
                </a:solidFill>
                <a:latin typeface="Arial"/>
              </a:defRPr>
            </a:pPr>
            <a:r>
              <a:rPr sz="1100" b="1">
                <a:solidFill>
                  <a:srgbClr val="F5923F"/>
                </a:solidFill>
                <a:latin typeface="Arial"/>
              </a:rPr>
              <a:t>SUCCESS: </a:t>
            </a:r>
            <a:r>
              <a:rPr sz="1100" b="0">
                <a:solidFill>
                  <a:srgbClr val="FFFFFF"/>
                </a:solidFill>
                <a:latin typeface="Arial"/>
              </a:rPr>
              <a:t>Quarterly model refresh with eval pass-rate held; team trained on responsible AI use</a:t>
            </a:r>
          </a:p>
        </p:txBody>
      </p:sp>
      <p:sp>
        <p:nvSpPr>
          <p:cNvPr id="22" name="Rounded Rectangle 21"/>
          <p:cNvSpPr/>
          <p:nvPr/>
        </p:nvSpPr>
        <p:spPr>
          <a:xfrm>
            <a:off x="7040880" y="1828800"/>
            <a:ext cx="4507992" cy="4251960"/>
          </a:xfrm>
          <a:prstGeom prst="roundRect">
            <a:avLst>
              <a:gd name="adj" fmla="val 4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1993392"/>
            <a:ext cx="402336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300" b="1">
                <a:solidFill>
                  <a:srgbClr val="FFE716"/>
                </a:solidFill>
                <a:latin typeface="Arial"/>
              </a:defRPr>
            </a:pPr>
            <a:r>
              <a:t>RISKS &amp; HONEST TRADE-OFFS</a:t>
            </a:r>
          </a:p>
        </p:txBody>
      </p:sp>
      <p:sp>
        <p:nvSpPr>
          <p:cNvPr id="24" name="Rectangle 23"/>
          <p:cNvSpPr/>
          <p:nvPr/>
        </p:nvSpPr>
        <p:spPr>
          <a:xfrm>
            <a:off x="7315200" y="2359152"/>
            <a:ext cx="402336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200" b="0">
                <a:solidFill>
                  <a:srgbClr val="B8BEC4"/>
                </a:solidFill>
                <a:latin typeface="Arial"/>
              </a:defRPr>
            </a:pPr>
            <a:r>
              <a:t>Every risk named — every mitigation owned.</a:t>
            </a:r>
          </a:p>
        </p:txBody>
      </p:sp>
      <p:sp>
        <p:nvSpPr>
          <p:cNvPr id="25" name="Rectangle 24"/>
          <p:cNvSpPr/>
          <p:nvPr/>
        </p:nvSpPr>
        <p:spPr>
          <a:xfrm>
            <a:off x="7315200" y="2743200"/>
            <a:ext cx="4023360" cy="777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00" b="0">
                <a:solidFill>
                  <a:srgbClr val="FFFFFF"/>
                </a:solidFill>
                <a:latin typeface="Arial"/>
              </a:defRPr>
            </a:pPr>
            <a:r>
              <a:rPr sz="1200" b="1">
                <a:solidFill>
                  <a:srgbClr val="FFE716"/>
                </a:solidFill>
                <a:latin typeface="Arial"/>
              </a:rPr>
              <a:t>OT SAFETY — </a:t>
            </a:r>
            <a:r>
              <a:rPr sz="1200" b="0">
                <a:solidFill>
                  <a:srgbClr val="FFFFFF"/>
                </a:solidFill>
                <a:latin typeface="Arial"/>
              </a:rPr>
              <a:t>An agent never actuates a press without a human gate — suggestions, not control.</a:t>
            </a:r>
          </a:p>
        </p:txBody>
      </p:sp>
      <p:sp>
        <p:nvSpPr>
          <p:cNvPr id="26" name="Rectangle 25"/>
          <p:cNvSpPr/>
          <p:nvPr/>
        </p:nvSpPr>
        <p:spPr>
          <a:xfrm>
            <a:off x="7315200" y="3547872"/>
            <a:ext cx="4023360" cy="777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00" b="0">
                <a:solidFill>
                  <a:srgbClr val="FFFFFF"/>
                </a:solidFill>
                <a:latin typeface="Arial"/>
              </a:defRPr>
            </a:pPr>
            <a:r>
              <a:rPr sz="1200" b="1">
                <a:solidFill>
                  <a:srgbClr val="FFE716"/>
                </a:solidFill>
                <a:latin typeface="Arial"/>
              </a:rPr>
              <a:t>DATA LEAKAGE — </a:t>
            </a:r>
            <a:r>
              <a:rPr sz="1200" b="0">
                <a:solidFill>
                  <a:srgbClr val="FFFFFF"/>
                </a:solidFill>
                <a:latin typeface="Arial"/>
              </a:rPr>
              <a:t>The on-prem tier is the answer — sensitive data never leaves the building.</a:t>
            </a:r>
          </a:p>
        </p:txBody>
      </p:sp>
      <p:sp>
        <p:nvSpPr>
          <p:cNvPr id="27" name="Rectangle 26"/>
          <p:cNvSpPr/>
          <p:nvPr/>
        </p:nvSpPr>
        <p:spPr>
          <a:xfrm>
            <a:off x="7315200" y="4352544"/>
            <a:ext cx="4023360" cy="777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00" b="0">
                <a:solidFill>
                  <a:srgbClr val="FFFFFF"/>
                </a:solidFill>
                <a:latin typeface="Arial"/>
              </a:defRPr>
            </a:pPr>
            <a:r>
              <a:rPr sz="1200" b="1">
                <a:solidFill>
                  <a:srgbClr val="FFE716"/>
                </a:solidFill>
                <a:latin typeface="Arial"/>
              </a:rPr>
              <a:t>VENDOR LOCK-IN — </a:t>
            </a:r>
            <a:r>
              <a:rPr sz="1200" b="0">
                <a:solidFill>
                  <a:srgbClr val="FFFFFF"/>
                </a:solidFill>
                <a:latin typeface="Arial"/>
              </a:rPr>
              <a:t>Open weights plus an API-agnostic router keep either tier swappable.</a:t>
            </a:r>
          </a:p>
        </p:txBody>
      </p:sp>
      <p:sp>
        <p:nvSpPr>
          <p:cNvPr id="28" name="Rectangle 27"/>
          <p:cNvSpPr/>
          <p:nvPr/>
        </p:nvSpPr>
        <p:spPr>
          <a:xfrm>
            <a:off x="7315200" y="5157216"/>
            <a:ext cx="4023360" cy="777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200" b="0">
                <a:solidFill>
                  <a:srgbClr val="FFFFFF"/>
                </a:solidFill>
                <a:latin typeface="Arial"/>
              </a:defRPr>
            </a:pPr>
            <a:r>
              <a:rPr sz="1200" b="1">
                <a:solidFill>
                  <a:srgbClr val="FFE716"/>
                </a:solidFill>
                <a:latin typeface="Arial"/>
              </a:rPr>
              <a:t>MODEL DRIFT — </a:t>
            </a:r>
            <a:r>
              <a:rPr sz="1200" b="0">
                <a:solidFill>
                  <a:srgbClr val="FFFFFF"/>
                </a:solidFill>
                <a:latin typeface="Arial"/>
              </a:rPr>
              <a:t>The eval harness catches it; the refresh cadence fixes it.</a:t>
            </a:r>
          </a:p>
        </p:txBody>
      </p:sp>
      <p:sp>
        <p:nvSpPr>
          <p:cNvPr id="1012" name="Rectangle 1011"/>
          <p:cNvSpPr/>
          <p:nvPr/>
        </p:nvSpPr>
        <p:spPr>
          <a:xfrm>
            <a:off x="640080" y="6263640"/>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6"/>
                          </p:tgtEl>
                        </p:cond>
                      </p:stCondLst>
                      <p:childTnLst>
                        <p:par>
                          <p:cTn id="1004" fill="hold">
                            <p:childTnLst>
                              <p:set>
                                <p:cBhvr>
                                  <p:cTn id="1005" dur="0.001" fill="hold"/>
                                  <p:tgtEl>
                                    <p:spTgt spid="6"/>
                                  </p:tgtEl>
                                </p:cBhvr>
                                <p:to>
                                  <p:strVal val="visible"/>
                                </p:to>
                              </p:set>
                            </p:childTnLst>
                          </p:cTn>
                        </p:par>
                      </p:childTnLst>
                    </p:cTn>
                  </p:par>
                  <p:par>
                    <p:cTn id="1006" fill="hold">
                      <p:stCondLst>
                        <p:cond delay="indefinite" evt="onClick">
                          <p:tgtEl>
                            <p:spTgt spid="14"/>
                          </p:tgtEl>
                        </p:cond>
                      </p:stCondLst>
                      <p:childTnLst>
                        <p:par>
                          <p:cTn id="1007" fill="hold">
                            <p:childTnLst>
                              <p:set>
                                <p:cBhvr>
                                  <p:cTn id="1008" dur="0.001" fill="hold"/>
                                  <p:tgtEl>
                                    <p:spTgt spid="14"/>
                                  </p:tgtEl>
                                </p:cBhvr>
                                <p:to>
                                  <p:strVal val="visible"/>
                                </p:to>
                              </p:set>
                            </p:childTnLst>
                          </p:cTn>
                        </p:par>
                      </p:childTnLst>
                    </p:cTn>
                  </p:par>
                  <p:par>
                    <p:cTn id="1009" fill="hold">
                      <p:stCondLst>
                        <p:cond delay="indefinite" evt="onClick">
                          <p:tgtEl>
                            <p:spTgt spid="22"/>
                          </p:tgtEl>
                        </p:cond>
                      </p:stCondLst>
                      <p:childTnLst>
                        <p:par>
                          <p:cTn id="1010" fill="hold">
                            <p:childTnLst>
                              <p:set>
                                <p:cBhvr>
                                  <p:cTn id="1011" dur="0.001" fill="hold"/>
                                  <p:tgtEl>
                                    <p:spTgt spid="22"/>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6" grpId="0" build="p"/>
      <p:bldP spid="14" grpId="0" build="p"/>
      <p:bldP spid="22"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502920"/>
            <a:ext cx="1106424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none" lIns="0"/>
          <a:lstStyle/>
          <a:p>
            <a:pPr algn="l">
              <a:spcBef>
                <a:spcPts val="0"/>
              </a:spcBef>
              <a:spcAft>
                <a:spcPts val="200"/>
              </a:spcAft>
              <a:defRPr sz="1400" b="1">
                <a:solidFill>
                  <a:srgbClr val="5AC4B2"/>
                </a:solidFill>
                <a:latin typeface="Arial"/>
              </a:defRPr>
            </a:pPr>
            <a:r>
              <a:t>THE FIELD, SURVEYED</a:t>
            </a:r>
          </a:p>
        </p:txBody>
      </p:sp>
      <p:sp>
        <p:nvSpPr>
          <p:cNvPr id="3" name="Rectangle 2"/>
          <p:cNvSpPr/>
          <p:nvPr/>
        </p:nvSpPr>
        <p:spPr>
          <a:xfrm>
            <a:off x="658368" y="914400"/>
            <a:ext cx="502920" cy="54864"/>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005840"/>
            <a:ext cx="1106424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2800" b="1">
                <a:solidFill>
                  <a:srgbClr val="FFFFFF"/>
                </a:solidFill>
                <a:latin typeface="Arial"/>
              </a:defRPr>
            </a:pPr>
            <a:r>
              <a:t>Competitive Benchmark</a:t>
            </a:r>
          </a:p>
        </p:txBody>
      </p:sp>
      <p:sp>
        <p:nvSpPr>
          <p:cNvPr id="5" name="Rectangle 4"/>
          <p:cNvSpPr/>
          <p:nvPr/>
        </p:nvSpPr>
        <p:spPr>
          <a:xfrm>
            <a:off x="640080" y="1536192"/>
            <a:ext cx="1106424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0">
                <a:solidFill>
                  <a:srgbClr val="B8BEC4"/>
                </a:solidFill>
                <a:latin typeface="Arial"/>
              </a:defRPr>
            </a:pPr>
            <a:r>
              <a:t>Ten entries graded on evidence — then the one system I would build</a:t>
            </a:r>
          </a:p>
        </p:txBody>
      </p:sp>
      <p:sp>
        <p:nvSpPr>
          <p:cNvPr id="6" name="Rectangle 5"/>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13 / 17</a:t>
            </a:r>
          </a:p>
        </p:txBody>
      </p:sp>
      <p:sp>
        <p:nvSpPr>
          <p:cNvPr id="7" name="Rectangle 6"/>
          <p:cNvSpPr/>
          <p:nvPr/>
        </p:nvSpPr>
        <p:spPr>
          <a:xfrm>
            <a:off x="640080" y="1792224"/>
            <a:ext cx="16916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950" b="1">
                <a:solidFill>
                  <a:srgbClr val="5AC4B2"/>
                </a:solidFill>
                <a:latin typeface="Arial"/>
              </a:defRPr>
            </a:pPr>
            <a:r>
              <a:t>COMPETITOR</a:t>
            </a:r>
          </a:p>
        </p:txBody>
      </p:sp>
      <p:sp>
        <p:nvSpPr>
          <p:cNvPr id="8" name="Rectangle 7"/>
          <p:cNvSpPr/>
          <p:nvPr/>
        </p:nvSpPr>
        <p:spPr>
          <a:xfrm>
            <a:off x="2395728" y="1792224"/>
            <a:ext cx="3886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950" b="1">
                <a:solidFill>
                  <a:srgbClr val="5AC4B2"/>
                </a:solidFill>
                <a:latin typeface="Arial"/>
              </a:defRPr>
            </a:pPr>
            <a:r>
              <a:t>WHAT THEY DEPLOY</a:t>
            </a:r>
          </a:p>
        </p:txBody>
      </p:sp>
      <p:sp>
        <p:nvSpPr>
          <p:cNvPr id="9" name="Rectangle 8"/>
          <p:cNvSpPr/>
          <p:nvPr/>
        </p:nvSpPr>
        <p:spPr>
          <a:xfrm>
            <a:off x="6400800" y="1792224"/>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950" b="1">
                <a:solidFill>
                  <a:srgbClr val="5AC4B2"/>
                </a:solidFill>
                <a:latin typeface="Arial"/>
              </a:defRPr>
            </a:pPr>
            <a:r>
              <a:t>EVIDENCE</a:t>
            </a:r>
          </a:p>
        </p:txBody>
      </p:sp>
      <p:sp>
        <p:nvSpPr>
          <p:cNvPr id="10" name="Rectangle 9"/>
          <p:cNvSpPr/>
          <p:nvPr/>
        </p:nvSpPr>
        <p:spPr>
          <a:xfrm>
            <a:off x="7818120" y="1792224"/>
            <a:ext cx="3611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950" b="1">
                <a:solidFill>
                  <a:srgbClr val="5AC4B2"/>
                </a:solidFill>
                <a:latin typeface="Arial"/>
              </a:defRPr>
            </a:pPr>
            <a:r>
              <a:t>HOW THE FABRIC MATCHES / EXCEEDS</a:t>
            </a:r>
          </a:p>
        </p:txBody>
      </p:sp>
      <p:sp>
        <p:nvSpPr>
          <p:cNvPr id="11" name="Rectangle 10"/>
          <p:cNvSpPr/>
          <p:nvPr/>
        </p:nvSpPr>
        <p:spPr>
          <a:xfrm>
            <a:off x="640080" y="2084831"/>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084831"/>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Heidelberg</a:t>
            </a:r>
          </a:p>
        </p:txBody>
      </p:sp>
      <p:sp>
        <p:nvSpPr>
          <p:cNvPr id="13" name="Rectangle 12"/>
          <p:cNvSpPr/>
          <p:nvPr/>
        </p:nvSpPr>
        <p:spPr>
          <a:xfrm>
            <a:off x="2395728" y="2084831"/>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Intellistart 3 (&lt;30s, vendor claim) · Color Assistant Pro · Portal NL analytics (3,000+ shops) · Prinect Touch Free beta — not an MIS</a:t>
            </a:r>
          </a:p>
        </p:txBody>
      </p:sp>
      <p:sp>
        <p:nvSpPr>
          <p:cNvPr id="14" name="Rectangle 13"/>
          <p:cNvSpPr/>
          <p:nvPr/>
        </p:nvSpPr>
        <p:spPr>
          <a:xfrm>
            <a:off x="6400800" y="2084831"/>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Strong</a:t>
            </a:r>
          </a:p>
        </p:txBody>
      </p:sp>
      <p:sp>
        <p:nvSpPr>
          <p:cNvPr id="15" name="Rectangle 14"/>
          <p:cNvSpPr/>
          <p:nvPr/>
        </p:nvSpPr>
        <p:spPr>
          <a:xfrm>
            <a:off x="7818120" y="2084831"/>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Keep Heidelberg’s machine layer; build the cross-vendor learning layer it leaves untouched</a:t>
            </a:r>
          </a:p>
        </p:txBody>
      </p:sp>
      <p:sp>
        <p:nvSpPr>
          <p:cNvPr id="16" name="Rectangle 15"/>
          <p:cNvSpPr/>
          <p:nvPr/>
        </p:nvSpPr>
        <p:spPr>
          <a:xfrm>
            <a:off x="640080" y="2478024"/>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478024"/>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HP PrintOS / Indigo</a:t>
            </a:r>
          </a:p>
        </p:txBody>
      </p:sp>
      <p:sp>
        <p:nvSpPr>
          <p:cNvPr id="18" name="Rectangle 17"/>
          <p:cNvSpPr/>
          <p:nvPr/>
        </p:nvSpPr>
        <p:spPr>
          <a:xfrm>
            <a:off x="2395728" y="2478024"/>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AAA 2.0 ML defect detection (Elanders, vendor-reported) · Nio chatbot · AI Order Intake · 400+ Indigo inspection installs</a:t>
            </a:r>
          </a:p>
        </p:txBody>
      </p:sp>
      <p:sp>
        <p:nvSpPr>
          <p:cNvPr id="19" name="Rectangle 18"/>
          <p:cNvSpPr/>
          <p:nvPr/>
        </p:nvSpPr>
        <p:spPr>
          <a:xfrm>
            <a:off x="6400800" y="2478024"/>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Strong</a:t>
            </a:r>
          </a:p>
        </p:txBody>
      </p:sp>
      <p:sp>
        <p:nvSpPr>
          <p:cNvPr id="20" name="Rectangle 19"/>
          <p:cNvSpPr/>
          <p:nvPr/>
        </p:nvSpPr>
        <p:spPr>
          <a:xfrm>
            <a:off x="7818120" y="2478024"/>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Strongest press-floor AI — but Indigo-locked; the fabric treats Indigo as one device class</a:t>
            </a:r>
          </a:p>
        </p:txBody>
      </p:sp>
      <p:sp>
        <p:nvSpPr>
          <p:cNvPr id="21" name="Rectangle 20"/>
          <p:cNvSpPr/>
          <p:nvPr/>
        </p:nvSpPr>
        <p:spPr>
          <a:xfrm>
            <a:off x="640080" y="2871216"/>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2871216"/>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Konica Minolta IQ-501</a:t>
            </a:r>
          </a:p>
        </p:txBody>
      </p:sp>
      <p:sp>
        <p:nvSpPr>
          <p:cNvPr id="23" name="Rectangle 22"/>
          <p:cNvSpPr/>
          <p:nvPr/>
        </p:nvSpPr>
        <p:spPr>
          <a:xfrm>
            <a:off x="2395728" y="2871216"/>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Inline closed-loop QC accessory (vendor claim: profiling 30→5 min); FastPrint: halved turnarounds</a:t>
            </a:r>
          </a:p>
        </p:txBody>
      </p:sp>
      <p:sp>
        <p:nvSpPr>
          <p:cNvPr id="24" name="Rectangle 23"/>
          <p:cNvSpPr/>
          <p:nvPr/>
        </p:nvSpPr>
        <p:spPr>
          <a:xfrm>
            <a:off x="6400800" y="2871216"/>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Strong</a:t>
            </a:r>
          </a:p>
        </p:txBody>
      </p:sp>
      <p:sp>
        <p:nvSpPr>
          <p:cNvPr id="25" name="Rectangle 24"/>
          <p:cNvSpPr/>
          <p:nvPr/>
        </p:nvSpPr>
        <p:spPr>
          <a:xfrm>
            <a:off x="7818120" y="2871216"/>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Extend inline QC across ALL presses — an accessory is not a workflow brain</a:t>
            </a:r>
          </a:p>
        </p:txBody>
      </p:sp>
      <p:sp>
        <p:nvSpPr>
          <p:cNvPr id="26" name="Rectangle 25"/>
          <p:cNvSpPr/>
          <p:nvPr/>
        </p:nvSpPr>
        <p:spPr>
          <a:xfrm>
            <a:off x="640080" y="3264408"/>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3264408"/>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Enfocus PitStop/Switch</a:t>
            </a:r>
          </a:p>
        </p:txBody>
      </p:sp>
      <p:sp>
        <p:nvSpPr>
          <p:cNvPr id="28" name="Rectangle 27"/>
          <p:cNvSpPr/>
          <p:nvPr/>
        </p:nvSpPr>
        <p:spPr>
          <a:xfrm>
            <a:off x="2395728" y="3264408"/>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Ubiquitous deterministic preflight; “AI-powered” is show-floor language — no neural preflight ships</a:t>
            </a:r>
          </a:p>
        </p:txBody>
      </p:sp>
      <p:sp>
        <p:nvSpPr>
          <p:cNvPr id="29" name="Rectangle 28"/>
          <p:cNvSpPr/>
          <p:nvPr/>
        </p:nvSpPr>
        <p:spPr>
          <a:xfrm>
            <a:off x="6400800" y="3264408"/>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Strong</a:t>
            </a:r>
          </a:p>
        </p:txBody>
      </p:sp>
      <p:sp>
        <p:nvSpPr>
          <p:cNvPr id="30" name="Rectangle 29"/>
          <p:cNvSpPr/>
          <p:nvPr/>
        </p:nvSpPr>
        <p:spPr>
          <a:xfrm>
            <a:off x="7818120" y="3264408"/>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Keep as the guardrail base; add ML above it, learning from shop prepress history</a:t>
            </a:r>
          </a:p>
        </p:txBody>
      </p:sp>
      <p:sp>
        <p:nvSpPr>
          <p:cNvPr id="31" name="Rectangle 30"/>
          <p:cNvSpPr/>
          <p:nvPr/>
        </p:nvSpPr>
        <p:spPr>
          <a:xfrm>
            <a:off x="640080" y="3657600"/>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657600"/>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BMW AIQX</a:t>
            </a:r>
          </a:p>
        </p:txBody>
      </p:sp>
      <p:sp>
        <p:nvSpPr>
          <p:cNvPr id="33" name="Rectangle 32"/>
          <p:cNvSpPr/>
          <p:nvPr/>
        </p:nvSpPr>
        <p:spPr>
          <a:xfrm>
            <a:off x="2395728" y="3657600"/>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1,000+ camera/sensor units at Landshut; live at three more plants</a:t>
            </a:r>
          </a:p>
        </p:txBody>
      </p:sp>
      <p:sp>
        <p:nvSpPr>
          <p:cNvPr id="34" name="Rectangle 33"/>
          <p:cNvSpPr/>
          <p:nvPr/>
        </p:nvSpPr>
        <p:spPr>
          <a:xfrm>
            <a:off x="6400800" y="3657600"/>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Strong</a:t>
            </a:r>
          </a:p>
        </p:txBody>
      </p:sp>
      <p:sp>
        <p:nvSpPr>
          <p:cNvPr id="35" name="Rectangle 34"/>
          <p:cNvSpPr/>
          <p:nvPr/>
        </p:nvSpPr>
        <p:spPr>
          <a:xfrm>
            <a:off x="7818120" y="3657600"/>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The template for the edge-vision layer — the same pattern, smaller and cheaper</a:t>
            </a:r>
          </a:p>
        </p:txBody>
      </p:sp>
      <p:sp>
        <p:nvSpPr>
          <p:cNvPr id="36" name="Rectangle 35"/>
          <p:cNvSpPr/>
          <p:nvPr/>
        </p:nvSpPr>
        <p:spPr>
          <a:xfrm>
            <a:off x="640080" y="4050791"/>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 y="4050791"/>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GE Appliances</a:t>
            </a:r>
          </a:p>
        </p:txBody>
      </p:sp>
      <p:sp>
        <p:nvSpPr>
          <p:cNvPr id="38" name="Rectangle 37"/>
          <p:cNvSpPr/>
          <p:nvPr/>
        </p:nvSpPr>
        <p:spPr>
          <a:xfrm>
            <a:off x="2395728" y="4050791"/>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800+ agents on Gemini Enterprise (Sept 2026); one cut back orders 25% (company-reported)</a:t>
            </a:r>
          </a:p>
        </p:txBody>
      </p:sp>
      <p:sp>
        <p:nvSpPr>
          <p:cNvPr id="39" name="Rectangle 38"/>
          <p:cNvSpPr/>
          <p:nvPr/>
        </p:nvSpPr>
        <p:spPr>
          <a:xfrm>
            <a:off x="6400800" y="4050791"/>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Strong</a:t>
            </a:r>
          </a:p>
        </p:txBody>
      </p:sp>
      <p:sp>
        <p:nvSpPr>
          <p:cNvPr id="40" name="Rectangle 39"/>
          <p:cNvSpPr/>
          <p:nvPr/>
        </p:nvSpPr>
        <p:spPr>
          <a:xfrm>
            <a:off x="7818120" y="4050791"/>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Same agentic pattern, scoped agents with human gates — sized for a three-building printer</a:t>
            </a:r>
          </a:p>
        </p:txBody>
      </p:sp>
      <p:sp>
        <p:nvSpPr>
          <p:cNvPr id="41" name="Rectangle 40"/>
          <p:cNvSpPr/>
          <p:nvPr/>
        </p:nvSpPr>
        <p:spPr>
          <a:xfrm>
            <a:off x="640080" y="4443983"/>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4443983"/>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Goldman Sachs</a:t>
            </a:r>
          </a:p>
        </p:txBody>
      </p:sp>
      <p:sp>
        <p:nvSpPr>
          <p:cNvPr id="43" name="Rectangle 42"/>
          <p:cNvSpPr/>
          <p:nvPr/>
        </p:nvSpPr>
        <p:spPr>
          <a:xfrm>
            <a:off x="2395728" y="4443983"/>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46,500+ staff assistant routing across OpenAI / Gemini / Llama by task (CNBC, Jan 2025)</a:t>
            </a:r>
          </a:p>
        </p:txBody>
      </p:sp>
      <p:sp>
        <p:nvSpPr>
          <p:cNvPr id="44" name="Rectangle 43"/>
          <p:cNvSpPr/>
          <p:nvPr/>
        </p:nvSpPr>
        <p:spPr>
          <a:xfrm>
            <a:off x="6400800" y="4443983"/>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Mod-Strong</a:t>
            </a:r>
          </a:p>
        </p:txBody>
      </p:sp>
      <p:sp>
        <p:nvSpPr>
          <p:cNvPr id="45" name="Rectangle 44"/>
          <p:cNvSpPr/>
          <p:nvPr/>
        </p:nvSpPr>
        <p:spPr>
          <a:xfrm>
            <a:off x="7818120" y="4443983"/>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The exact precedent for the task-typed model gateway</a:t>
            </a:r>
          </a:p>
        </p:txBody>
      </p:sp>
      <p:sp>
        <p:nvSpPr>
          <p:cNvPr id="46" name="Rectangle 45"/>
          <p:cNvSpPr/>
          <p:nvPr/>
        </p:nvSpPr>
        <p:spPr>
          <a:xfrm>
            <a:off x="640080" y="4837175"/>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080" y="4837175"/>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Meta Llama Guard</a:t>
            </a:r>
          </a:p>
        </p:txBody>
      </p:sp>
      <p:sp>
        <p:nvSpPr>
          <p:cNvPr id="48" name="Rectangle 47"/>
          <p:cNvSpPr/>
          <p:nvPr/>
        </p:nvSpPr>
        <p:spPr>
          <a:xfrm>
            <a:off x="2395728" y="4837175"/>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Llama Guard 4 + Prompt Guard 2 back the production Moderations API; NeMo Guardrails analog</a:t>
            </a:r>
          </a:p>
        </p:txBody>
      </p:sp>
      <p:sp>
        <p:nvSpPr>
          <p:cNvPr id="49" name="Rectangle 48"/>
          <p:cNvSpPr/>
          <p:nvPr/>
        </p:nvSpPr>
        <p:spPr>
          <a:xfrm>
            <a:off x="6400800" y="4837175"/>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5AC4B2"/>
                </a:solidFill>
                <a:latin typeface="Arial"/>
              </a:defRPr>
            </a:pPr>
            <a:r>
              <a:t>Strong</a:t>
            </a:r>
          </a:p>
        </p:txBody>
      </p:sp>
      <p:sp>
        <p:nvSpPr>
          <p:cNvPr id="50" name="Rectangle 49"/>
          <p:cNvSpPr/>
          <p:nvPr/>
        </p:nvSpPr>
        <p:spPr>
          <a:xfrm>
            <a:off x="7818120" y="4837175"/>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“Small model decides” is production-standard — the Jev-style layer is the next step</a:t>
            </a:r>
          </a:p>
        </p:txBody>
      </p:sp>
      <p:sp>
        <p:nvSpPr>
          <p:cNvPr id="51" name="Rectangle 50"/>
          <p:cNvSpPr/>
          <p:nvPr/>
        </p:nvSpPr>
        <p:spPr>
          <a:xfrm>
            <a:off x="640080" y="5230367"/>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0080" y="5230367"/>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ANZ / Omada / France</a:t>
            </a:r>
          </a:p>
        </p:txBody>
      </p:sp>
      <p:sp>
        <p:nvSpPr>
          <p:cNvPr id="53" name="Rectangle 52"/>
          <p:cNvSpPr/>
          <p:nvPr/>
        </p:nvSpPr>
        <p:spPr>
          <a:xfrm>
            <a:off x="2395728" y="5230367"/>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Self-hosted Llama/Mistral for compliance &amp; sovereignty (10,000 agents, 8 ministries)</a:t>
            </a:r>
          </a:p>
        </p:txBody>
      </p:sp>
      <p:sp>
        <p:nvSpPr>
          <p:cNvPr id="54" name="Rectangle 53"/>
          <p:cNvSpPr/>
          <p:nvPr/>
        </p:nvSpPr>
        <p:spPr>
          <a:xfrm>
            <a:off x="6400800" y="5230367"/>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FFE716"/>
                </a:solidFill>
                <a:latin typeface="Arial"/>
              </a:defRPr>
            </a:pPr>
            <a:r>
              <a:t>Moderate</a:t>
            </a:r>
          </a:p>
        </p:txBody>
      </p:sp>
      <p:sp>
        <p:nvSpPr>
          <p:cNvPr id="55" name="Rectangle 54"/>
          <p:cNvSpPr/>
          <p:nvPr/>
        </p:nvSpPr>
        <p:spPr>
          <a:xfrm>
            <a:off x="7818120" y="5230367"/>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The same sovereignty logic: artwork, tickets, mailing lists never leave the building</a:t>
            </a:r>
          </a:p>
        </p:txBody>
      </p:sp>
      <p:sp>
        <p:nvSpPr>
          <p:cNvPr id="56" name="Rectangle 55"/>
          <p:cNvSpPr/>
          <p:nvPr/>
        </p:nvSpPr>
        <p:spPr>
          <a:xfrm>
            <a:off x="640080" y="5623559"/>
            <a:ext cx="10881360" cy="384048"/>
          </a:xfrm>
          <a:prstGeom prst="rect">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0080" y="5623559"/>
            <a:ext cx="16916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1000" b="1">
                <a:solidFill>
                  <a:srgbClr val="FFFFFF"/>
                </a:solidFill>
                <a:latin typeface="Arial"/>
              </a:defRPr>
            </a:pPr>
            <a:r>
              <a:t>Jev (TypeSafe)</a:t>
            </a:r>
          </a:p>
        </p:txBody>
      </p:sp>
      <p:sp>
        <p:nvSpPr>
          <p:cNvPr id="58" name="Rectangle 57"/>
          <p:cNvSpPr/>
          <p:nvPr/>
        </p:nvSpPr>
        <p:spPr>
          <a:xfrm>
            <a:off x="2395728" y="5623559"/>
            <a:ext cx="38862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B8BEC4"/>
                </a:solidFill>
                <a:latin typeface="Arial"/>
              </a:defRPr>
            </a:pPr>
            <a:r>
              <a:t>Typed decisions (Choice/Score/Noul); launched Sept 15, 2026; ~$0.0004/decision; ~110–175 ms</a:t>
            </a:r>
          </a:p>
        </p:txBody>
      </p:sp>
      <p:sp>
        <p:nvSpPr>
          <p:cNvPr id="59" name="Rectangle 58"/>
          <p:cNvSpPr/>
          <p:nvPr/>
        </p:nvSpPr>
        <p:spPr>
          <a:xfrm>
            <a:off x="6400800" y="5623559"/>
            <a:ext cx="1325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ctr">
              <a:spcBef>
                <a:spcPts val="0"/>
              </a:spcBef>
              <a:spcAft>
                <a:spcPts val="200"/>
              </a:spcAft>
              <a:defRPr sz="950" b="1">
                <a:solidFill>
                  <a:srgbClr val="F5923F"/>
                </a:solidFill>
                <a:latin typeface="Arial"/>
              </a:defRPr>
            </a:pPr>
            <a:r>
              <a:t>Weak</a:t>
            </a:r>
          </a:p>
        </p:txBody>
      </p:sp>
      <p:sp>
        <p:nvSpPr>
          <p:cNvPr id="60" name="Rectangle 59"/>
          <p:cNvSpPr/>
          <p:nvPr/>
        </p:nvSpPr>
        <p:spPr>
          <a:xfrm>
            <a:off x="7818120" y="5623559"/>
            <a:ext cx="36118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tIns="9144" bIns="9144"/>
          <a:lstStyle/>
          <a:p>
            <a:pPr algn="l">
              <a:spcBef>
                <a:spcPts val="0"/>
              </a:spcBef>
              <a:spcAft>
                <a:spcPts val="200"/>
              </a:spcAft>
              <a:defRPr sz="900" b="0">
                <a:solidFill>
                  <a:srgbClr val="FFFFFF"/>
                </a:solidFill>
                <a:latin typeface="Arial"/>
              </a:defRPr>
            </a:pPr>
            <a:r>
              <a:t>Evaluated plug-in, not dependency — Llama Guard/NeMo fallback runs today</a:t>
            </a:r>
          </a:p>
        </p:txBody>
      </p:sp>
      <p:sp>
        <p:nvSpPr>
          <p:cNvPr id="61" name="Rounded Rectangle 60"/>
          <p:cNvSpPr/>
          <p:nvPr/>
        </p:nvSpPr>
        <p:spPr>
          <a:xfrm>
            <a:off x="640080" y="6016752"/>
            <a:ext cx="10881360" cy="219456"/>
          </a:xfrm>
          <a:prstGeom prst="roundRect">
            <a:avLst>
              <a:gd name="adj" fmla="val 12000"/>
            </a:avLst>
          </a:prstGeom>
          <a:solidFill>
            <a:srgbClr val="3A404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600"/>
              </a:spcAft>
              <a:defRPr sz="1000" b="0">
                <a:solidFill>
                  <a:srgbClr val="FFFFFF"/>
                </a:solidFill>
                <a:latin typeface="Arial"/>
              </a:defRPr>
            </a:pPr>
            <a:r>
              <a:rPr sz="1000" b="1">
                <a:solidFill>
                  <a:srgbClr val="5AC4B2"/>
                </a:solidFill>
                <a:latin typeface="Arial"/>
              </a:rPr>
              <a:t>SOVEREIGN HYBRID AI FABRIC — </a:t>
            </a:r>
            <a:r>
              <a:rPr sz="1000" b="0">
                <a:solidFill>
                  <a:srgbClr val="FFFFFF"/>
                </a:solidFill>
                <a:latin typeface="Arial"/>
              </a:rPr>
              <a:t>on-prem open weights · typed gateway · decision layer · edge vision · OT-segmented · Tharstern system of record</a:t>
            </a:r>
          </a:p>
        </p:txBody>
      </p:sp>
      <p:sp>
        <p:nvSpPr>
          <p:cNvPr id="1036" name="Rectangle 1035"/>
          <p:cNvSpPr/>
          <p:nvPr/>
        </p:nvSpPr>
        <p:spPr>
          <a:xfrm>
            <a:off x="640080" y="6263640"/>
            <a:ext cx="59436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Full detail: AI-Vision-UltraPlan (companion document).</a:t>
            </a:r>
          </a:p>
        </p:txBody>
      </p:sp>
    </p:spTree>
  </p:cSld>
  <p:clrMapOvr>
    <a:masterClrMapping/>
  </p:clrMapOvr>
  <p:timing>
    <p:tnLst>
      <p:par>
        <p:cTn id="1001" dur="indefinite" restart="never" nodeType="tmrPar">
          <p:childTnLst>
            <p:seq concurrent="1" nextAc="seek">
              <p:cTn id="1002" dur="indefinite" nodeType="mainSeq">
                <p:childTnLst>
                  <p:par>
                    <p:cTn id="1003" fill="hold">
                      <p:stCondLst>
                        <p:cond delay="indefinite" evt="onClick">
                          <p:tgtEl>
                            <p:spTgt spid="11"/>
                          </p:tgtEl>
                        </p:cond>
                      </p:stCondLst>
                      <p:childTnLst>
                        <p:par>
                          <p:cTn id="1004" fill="hold">
                            <p:childTnLst>
                              <p:set>
                                <p:cBhvr>
                                  <p:cTn id="1005" dur="0.001" fill="hold"/>
                                  <p:tgtEl>
                                    <p:spTgt spid="11"/>
                                  </p:tgtEl>
                                </p:cBhvr>
                                <p:to>
                                  <p:strVal val="visible"/>
                                </p:to>
                              </p:set>
                            </p:childTnLst>
                          </p:cTn>
                        </p:par>
                      </p:childTnLst>
                    </p:cTn>
                  </p:par>
                  <p:par>
                    <p:cTn id="1006" fill="hold">
                      <p:stCondLst>
                        <p:cond delay="indefinite" evt="onClick">
                          <p:tgtEl>
                            <p:spTgt spid="16"/>
                          </p:tgtEl>
                        </p:cond>
                      </p:stCondLst>
                      <p:childTnLst>
                        <p:par>
                          <p:cTn id="1007" fill="hold">
                            <p:childTnLst>
                              <p:set>
                                <p:cBhvr>
                                  <p:cTn id="1008" dur="0.001" fill="hold"/>
                                  <p:tgtEl>
                                    <p:spTgt spid="16"/>
                                  </p:tgtEl>
                                </p:cBhvr>
                                <p:to>
                                  <p:strVal val="visible"/>
                                </p:to>
                              </p:set>
                            </p:childTnLst>
                          </p:cTn>
                        </p:par>
                      </p:childTnLst>
                    </p:cTn>
                  </p:par>
                  <p:par>
                    <p:cTn id="1009" fill="hold">
                      <p:stCondLst>
                        <p:cond delay="indefinite" evt="onClick">
                          <p:tgtEl>
                            <p:spTgt spid="21"/>
                          </p:tgtEl>
                        </p:cond>
                      </p:stCondLst>
                      <p:childTnLst>
                        <p:par>
                          <p:cTn id="1010" fill="hold">
                            <p:childTnLst>
                              <p:set>
                                <p:cBhvr>
                                  <p:cTn id="1011" dur="0.001" fill="hold"/>
                                  <p:tgtEl>
                                    <p:spTgt spid="21"/>
                                  </p:tgtEl>
                                </p:cBhvr>
                                <p:to>
                                  <p:strVal val="visible"/>
                                </p:to>
                              </p:set>
                            </p:childTnLst>
                          </p:cTn>
                        </p:par>
                      </p:childTnLst>
                    </p:cTn>
                  </p:par>
                  <p:par>
                    <p:cTn id="1012" fill="hold">
                      <p:stCondLst>
                        <p:cond delay="indefinite" evt="onClick">
                          <p:tgtEl>
                            <p:spTgt spid="26"/>
                          </p:tgtEl>
                        </p:cond>
                      </p:stCondLst>
                      <p:childTnLst>
                        <p:par>
                          <p:cTn id="1013" fill="hold">
                            <p:childTnLst>
                              <p:set>
                                <p:cBhvr>
                                  <p:cTn id="1014" dur="0.001" fill="hold"/>
                                  <p:tgtEl>
                                    <p:spTgt spid="26"/>
                                  </p:tgtEl>
                                </p:cBhvr>
                                <p:to>
                                  <p:strVal val="visible"/>
                                </p:to>
                              </p:set>
                            </p:childTnLst>
                          </p:cTn>
                        </p:par>
                      </p:childTnLst>
                    </p:cTn>
                  </p:par>
                  <p:par>
                    <p:cTn id="1015" fill="hold">
                      <p:stCondLst>
                        <p:cond delay="indefinite" evt="onClick">
                          <p:tgtEl>
                            <p:spTgt spid="31"/>
                          </p:tgtEl>
                        </p:cond>
                      </p:stCondLst>
                      <p:childTnLst>
                        <p:par>
                          <p:cTn id="1016" fill="hold">
                            <p:childTnLst>
                              <p:set>
                                <p:cBhvr>
                                  <p:cTn id="1017" dur="0.001" fill="hold"/>
                                  <p:tgtEl>
                                    <p:spTgt spid="31"/>
                                  </p:tgtEl>
                                </p:cBhvr>
                                <p:to>
                                  <p:strVal val="visible"/>
                                </p:to>
                              </p:set>
                            </p:childTnLst>
                          </p:cTn>
                        </p:par>
                      </p:childTnLst>
                    </p:cTn>
                  </p:par>
                  <p:par>
                    <p:cTn id="1018" fill="hold">
                      <p:stCondLst>
                        <p:cond delay="indefinite" evt="onClick">
                          <p:tgtEl>
                            <p:spTgt spid="36"/>
                          </p:tgtEl>
                        </p:cond>
                      </p:stCondLst>
                      <p:childTnLst>
                        <p:par>
                          <p:cTn id="1019" fill="hold">
                            <p:childTnLst>
                              <p:set>
                                <p:cBhvr>
                                  <p:cTn id="1020" dur="0.001" fill="hold"/>
                                  <p:tgtEl>
                                    <p:spTgt spid="36"/>
                                  </p:tgtEl>
                                </p:cBhvr>
                                <p:to>
                                  <p:strVal val="visible"/>
                                </p:to>
                              </p:set>
                            </p:childTnLst>
                          </p:cTn>
                        </p:par>
                      </p:childTnLst>
                    </p:cTn>
                  </p:par>
                  <p:par>
                    <p:cTn id="1021" fill="hold">
                      <p:stCondLst>
                        <p:cond delay="indefinite" evt="onClick">
                          <p:tgtEl>
                            <p:spTgt spid="41"/>
                          </p:tgtEl>
                        </p:cond>
                      </p:stCondLst>
                      <p:childTnLst>
                        <p:par>
                          <p:cTn id="1022" fill="hold">
                            <p:childTnLst>
                              <p:set>
                                <p:cBhvr>
                                  <p:cTn id="1023" dur="0.001" fill="hold"/>
                                  <p:tgtEl>
                                    <p:spTgt spid="41"/>
                                  </p:tgtEl>
                                </p:cBhvr>
                                <p:to>
                                  <p:strVal val="visible"/>
                                </p:to>
                              </p:set>
                            </p:childTnLst>
                          </p:cTn>
                        </p:par>
                      </p:childTnLst>
                    </p:cTn>
                  </p:par>
                  <p:par>
                    <p:cTn id="1024" fill="hold">
                      <p:stCondLst>
                        <p:cond delay="indefinite" evt="onClick">
                          <p:tgtEl>
                            <p:spTgt spid="46"/>
                          </p:tgtEl>
                        </p:cond>
                      </p:stCondLst>
                      <p:childTnLst>
                        <p:par>
                          <p:cTn id="1025" fill="hold">
                            <p:childTnLst>
                              <p:set>
                                <p:cBhvr>
                                  <p:cTn id="1026" dur="0.001" fill="hold"/>
                                  <p:tgtEl>
                                    <p:spTgt spid="46"/>
                                  </p:tgtEl>
                                </p:cBhvr>
                                <p:to>
                                  <p:strVal val="visible"/>
                                </p:to>
                              </p:set>
                            </p:childTnLst>
                          </p:cTn>
                        </p:par>
                      </p:childTnLst>
                    </p:cTn>
                  </p:par>
                  <p:par>
                    <p:cTn id="1027" fill="hold">
                      <p:stCondLst>
                        <p:cond delay="indefinite" evt="onClick">
                          <p:tgtEl>
                            <p:spTgt spid="51"/>
                          </p:tgtEl>
                        </p:cond>
                      </p:stCondLst>
                      <p:childTnLst>
                        <p:par>
                          <p:cTn id="1028" fill="hold">
                            <p:childTnLst>
                              <p:set>
                                <p:cBhvr>
                                  <p:cTn id="1029" dur="0.001" fill="hold"/>
                                  <p:tgtEl>
                                    <p:spTgt spid="51"/>
                                  </p:tgtEl>
                                </p:cBhvr>
                                <p:to>
                                  <p:strVal val="visible"/>
                                </p:to>
                              </p:set>
                            </p:childTnLst>
                          </p:cTn>
                        </p:par>
                      </p:childTnLst>
                    </p:cTn>
                  </p:par>
                  <p:par>
                    <p:cTn id="1030" fill="hold">
                      <p:stCondLst>
                        <p:cond delay="indefinite" evt="onClick">
                          <p:tgtEl>
                            <p:spTgt spid="56"/>
                          </p:tgtEl>
                        </p:cond>
                      </p:stCondLst>
                      <p:childTnLst>
                        <p:par>
                          <p:cTn id="1031" fill="hold">
                            <p:childTnLst>
                              <p:set>
                                <p:cBhvr>
                                  <p:cTn id="1032" dur="0.001" fill="hold"/>
                                  <p:tgtEl>
                                    <p:spTgt spid="56"/>
                                  </p:tgtEl>
                                </p:cBhvr>
                                <p:to>
                                  <p:strVal val="visible"/>
                                </p:to>
                              </p:set>
                            </p:childTnLst>
                          </p:cTn>
                        </p:par>
                      </p:childTnLst>
                    </p:cTn>
                  </p:par>
                  <p:par>
                    <p:cTn id="1033" fill="hold">
                      <p:stCondLst>
                        <p:cond delay="indefinite" evt="onClick">
                          <p:tgtEl>
                            <p:spTgt spid="61"/>
                          </p:tgtEl>
                        </p:cond>
                      </p:stCondLst>
                      <p:childTnLst>
                        <p:par>
                          <p:cTn id="1034" fill="hold">
                            <p:childTnLst>
                              <p:set>
                                <p:cBhvr>
                                  <p:cTn id="1035" dur="0.001" fill="hold"/>
                                  <p:tgtEl>
                                    <p:spTgt spid="61"/>
                                  </p:tgtEl>
                                </p:cBhvr>
                                <p:to>
                                  <p:strVal val="visible"/>
                                </p:to>
                              </p:set>
                            </p:childTnLst>
                          </p:cTn>
                        </p:par>
                      </p:childTnLst>
                    </p:cTn>
                  </p:par>
                </p:childTnLst>
                <p:prevCondLst>
                  <p:cond delay="0" evt="onPrev">
                    <p:tgtEl>
                      <p:sldTgt/>
                    </p:tgtEl>
                  </p:cond>
                </p:prevCondLst>
                <p:nextCondLst>
                  <p:cond delay="0" evt="onNext">
                    <p:tgtEl>
                      <p:sldTgt/>
                    </p:tgtEl>
                  </p:cond>
                </p:nextCondLst>
              </p:cTn>
            </p:seq>
          </p:childTnLst>
        </p:cTn>
      </p:par>
    </p:tnLst>
    <p:bldLst>
      <p:bldP spid="11" grpId="0" build="p"/>
      <p:bldP spid="16" grpId="0" build="p"/>
      <p:bldP spid="21" grpId="0" build="p"/>
      <p:bldP spid="26" grpId="0" build="p"/>
      <p:bldP spid="31" grpId="0" build="p"/>
      <p:bldP spid="36" grpId="0" build="p"/>
      <p:bldP spid="41" grpId="0" build="p"/>
      <p:bldP spid="46" grpId="0" build="p"/>
      <p:bldP spid="51" grpId="0" build="p"/>
      <p:bldP spid="56" grpId="0" build="p"/>
      <p:bldP spid="61"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HOW I'LL MEASURE MYSELF</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My own year-one scorecard — personal commitments</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14 / 17</a:t>
            </a:r>
          </a:p>
        </p:txBody>
      </p:sp>
      <p:sp>
        <p:nvSpPr>
          <p:cNvPr id="6" name="Rounded Rectangle 5"/>
          <p:cNvSpPr/>
          <p:nvPr/>
        </p:nvSpPr>
        <p:spPr>
          <a:xfrm>
            <a:off x="640080" y="1965960"/>
            <a:ext cx="10881360" cy="804672"/>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Automate the repetitive work —  </a:t>
            </a:r>
            <a:r>
              <a:rPr sz="1600" b="0">
                <a:solidFill>
                  <a:srgbClr val="FFFFFF"/>
                </a:solidFill>
                <a:latin typeface="Arial"/>
              </a:rPr>
              <a:t>manual tasks identified and automated, with time saved tracked and reported.</a:t>
            </a:r>
          </a:p>
        </p:txBody>
      </p:sp>
      <p:sp>
        <p:nvSpPr>
          <p:cNvPr id="7" name="Rectangle 6"/>
          <p:cNvSpPr/>
          <p:nvPr/>
        </p:nvSpPr>
        <p:spPr>
          <a:xfrm>
            <a:off x="640080" y="1965960"/>
            <a:ext cx="82296" cy="804672"/>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843784"/>
            <a:ext cx="10881360" cy="804672"/>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Embed AI in the daily craft —  </a:t>
            </a:r>
            <a:r>
              <a:rPr sz="1600" b="0">
                <a:solidFill>
                  <a:srgbClr val="FFFFFF"/>
                </a:solidFill>
                <a:latin typeface="Arial"/>
              </a:rPr>
              <a:t>AI tools used in real troubleshooting, documentation, and monitoring — not demoed.</a:t>
            </a:r>
          </a:p>
        </p:txBody>
      </p:sp>
      <p:sp>
        <p:nvSpPr>
          <p:cNvPr id="9" name="Rectangle 8"/>
          <p:cNvSpPr/>
          <p:nvPr/>
        </p:nvSpPr>
        <p:spPr>
          <a:xfrm>
            <a:off x="640080" y="2843784"/>
            <a:ext cx="82296" cy="804672"/>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3721608"/>
            <a:ext cx="10881360" cy="804672"/>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Keep the environment smooth —  </a:t>
            </a:r>
            <a:r>
              <a:rPr sz="1600" b="0">
                <a:solidFill>
                  <a:srgbClr val="FFFFFF"/>
                </a:solidFill>
                <a:latin typeface="Arial"/>
              </a:rPr>
              <a:t>a mixed environment that runs clean, with issues resolved fast and independently.</a:t>
            </a:r>
          </a:p>
        </p:txBody>
      </p:sp>
      <p:sp>
        <p:nvSpPr>
          <p:cNvPr id="11" name="Rectangle 10"/>
          <p:cNvSpPr/>
          <p:nvPr/>
        </p:nvSpPr>
        <p:spPr>
          <a:xfrm>
            <a:off x="640080" y="3721608"/>
            <a:ext cx="82296" cy="804672"/>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4599432"/>
            <a:ext cx="10881360" cy="804672"/>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Train confident users —  </a:t>
            </a:r>
            <a:r>
              <a:rPr sz="1600" b="0">
                <a:solidFill>
                  <a:srgbClr val="FFFFFF"/>
                </a:solidFill>
                <a:latin typeface="Arial"/>
              </a:rPr>
              <a:t>the team comfortable using AI responsibly and productively in their own work.</a:t>
            </a:r>
          </a:p>
        </p:txBody>
      </p:sp>
      <p:sp>
        <p:nvSpPr>
          <p:cNvPr id="13" name="Rectangle 12"/>
          <p:cNvSpPr/>
          <p:nvPr/>
        </p:nvSpPr>
        <p:spPr>
          <a:xfrm>
            <a:off x="640080" y="4599432"/>
            <a:ext cx="82296" cy="804672"/>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5477256"/>
            <a:ext cx="10881360" cy="804672"/>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Document everything —  </a:t>
            </a:r>
            <a:r>
              <a:rPr sz="1600" b="0">
                <a:solidFill>
                  <a:srgbClr val="FFFFFF"/>
                </a:solidFill>
                <a:latin typeface="Arial"/>
              </a:rPr>
              <a:t>clear, current documentation for procedures, AI workflows, and every system change.</a:t>
            </a:r>
          </a:p>
        </p:txBody>
      </p:sp>
      <p:sp>
        <p:nvSpPr>
          <p:cNvPr id="15" name="Rectangle 14"/>
          <p:cNvSpPr/>
          <p:nvPr/>
        </p:nvSpPr>
        <p:spPr>
          <a:xfrm>
            <a:off x="640080" y="5477256"/>
            <a:ext cx="82296" cy="804672"/>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6400800"/>
            <a:ext cx="104241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1">
                <a:solidFill>
                  <a:srgbClr val="5AC4B2"/>
                </a:solidFill>
                <a:latin typeface="Arial"/>
              </a:defRPr>
            </a:pPr>
            <a:r>
              <a:t>If I can't measure it, I can't claim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RESPONSIBLE AI + SECURITY</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Guardrails before models</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15 / 17</a:t>
            </a:r>
          </a:p>
        </p:txBody>
      </p:sp>
      <p:sp>
        <p:nvSpPr>
          <p:cNvPr id="6" name="Rounded Rectangle 5"/>
          <p:cNvSpPr/>
          <p:nvPr/>
        </p:nvSpPr>
        <p:spPr>
          <a:xfrm>
            <a:off x="640080" y="1965960"/>
            <a:ext cx="10881360" cy="82296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500" b="1">
                <a:solidFill>
                  <a:srgbClr val="FFFFFF"/>
                </a:solidFill>
                <a:latin typeface="Arial"/>
              </a:rPr>
              <a:t>Vendor remote access —  </a:t>
            </a:r>
            <a:r>
              <a:rPr sz="1500" b="0">
                <a:solidFill>
                  <a:srgbClr val="FFFFFF"/>
                </a:solidFill>
                <a:latin typeface="Arial"/>
              </a:rPr>
              <a:t>time-boxed, on-request only, and logged. Remote-service paths open when asked and close when done — never standing access.</a:t>
            </a:r>
          </a:p>
        </p:txBody>
      </p:sp>
      <p:sp>
        <p:nvSpPr>
          <p:cNvPr id="7" name="Rectangle 6"/>
          <p:cNvSpPr/>
          <p:nvPr/>
        </p:nvSpPr>
        <p:spPr>
          <a:xfrm>
            <a:off x="640080" y="1965960"/>
            <a:ext cx="82296" cy="82296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880360"/>
            <a:ext cx="10881360" cy="82296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500" b="1">
                <a:solidFill>
                  <a:srgbClr val="FFFFFF"/>
                </a:solidFill>
                <a:latin typeface="Arial"/>
              </a:rPr>
              <a:t>OT segmentation —  </a:t>
            </a:r>
            <a:r>
              <a:rPr sz="1500" b="0">
                <a:solidFill>
                  <a:srgbClr val="FFFFFF"/>
                </a:solidFill>
                <a:latin typeface="Arial"/>
              </a:rPr>
              <a:t>press consoles on their own VLANs with no direct internet path. AI inference near the press stays local or on the segmented network.</a:t>
            </a:r>
          </a:p>
        </p:txBody>
      </p:sp>
      <p:sp>
        <p:nvSpPr>
          <p:cNvPr id="9" name="Rectangle 8"/>
          <p:cNvSpPr/>
          <p:nvPr/>
        </p:nvSpPr>
        <p:spPr>
          <a:xfrm>
            <a:off x="640080" y="2880360"/>
            <a:ext cx="82296" cy="822960"/>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3794760"/>
            <a:ext cx="10881360" cy="82296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500" b="1">
                <a:solidFill>
                  <a:srgbClr val="FFFFFF"/>
                </a:solidFill>
                <a:latin typeface="Arial"/>
              </a:rPr>
              <a:t>Client artwork stays private —  </a:t>
            </a:r>
            <a:r>
              <a:rPr sz="1500" b="0">
                <a:solidFill>
                  <a:srgbClr val="FFFFFF"/>
                </a:solidFill>
                <a:latin typeface="Arial"/>
              </a:rPr>
              <a:t>no job files, artwork, or customer data in public AI tools. Ever. Evaluation uses synthetic or fully-consented data.</a:t>
            </a:r>
          </a:p>
        </p:txBody>
      </p:sp>
      <p:sp>
        <p:nvSpPr>
          <p:cNvPr id="11" name="Rectangle 10"/>
          <p:cNvSpPr/>
          <p:nvPr/>
        </p:nvSpPr>
        <p:spPr>
          <a:xfrm>
            <a:off x="640080" y="3794760"/>
            <a:ext cx="82296" cy="822960"/>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4709160"/>
            <a:ext cx="10881360" cy="82296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500" b="1">
                <a:solidFill>
                  <a:srgbClr val="FFFFFF"/>
                </a:solidFill>
                <a:latin typeface="Arial"/>
              </a:rPr>
              <a:t>Tested patching on legacy consoles —  </a:t>
            </a:r>
            <a:r>
              <a:rPr sz="1500" b="0">
                <a:solidFill>
                  <a:srgbClr val="FFFFFF"/>
                </a:solidFill>
                <a:latin typeface="Arial"/>
              </a:rPr>
              <a:t>staged, verified updates on a schedule that never interrupts a press run.</a:t>
            </a:r>
          </a:p>
        </p:txBody>
      </p:sp>
      <p:sp>
        <p:nvSpPr>
          <p:cNvPr id="13" name="Rectangle 12"/>
          <p:cNvSpPr/>
          <p:nvPr/>
        </p:nvSpPr>
        <p:spPr>
          <a:xfrm>
            <a:off x="640080" y="4709160"/>
            <a:ext cx="82296" cy="82296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5623560"/>
            <a:ext cx="10881360" cy="82296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500" b="1">
                <a:solidFill>
                  <a:srgbClr val="FFFFFF"/>
                </a:solidFill>
                <a:latin typeface="Arial"/>
              </a:rPr>
              <a:t>Monitoring and alerting discipline —  </a:t>
            </a:r>
            <a:r>
              <a:rPr sz="1500" b="0">
                <a:solidFill>
                  <a:srgbClr val="FFFFFF"/>
                </a:solidFill>
                <a:latin typeface="Arial"/>
              </a:rPr>
              <a:t>every AI system watched in production; alerts tuned so real signals get seen, and a human signs off on anything that ships.</a:t>
            </a:r>
          </a:p>
        </p:txBody>
      </p:sp>
      <p:sp>
        <p:nvSpPr>
          <p:cNvPr id="15" name="Rectangle 14"/>
          <p:cNvSpPr/>
          <p:nvPr/>
        </p:nvSpPr>
        <p:spPr>
          <a:xfrm>
            <a:off x="640080" y="5623560"/>
            <a:ext cx="82296" cy="822960"/>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ectangle 1"/>
          <p:cNvSpPr/>
          <p:nvPr/>
        </p:nvSpPr>
        <p:spPr>
          <a:xfrm>
            <a:off x="640080" y="320040"/>
            <a:ext cx="2011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5AC4B2"/>
                </a:solidFill>
                <a:latin typeface="Arial"/>
              </a:defRPr>
            </a:pPr>
            <a:r>
              <a:t>WHY ME</a:t>
            </a:r>
          </a:p>
        </p:txBody>
      </p:sp>
      <p:sp>
        <p:nvSpPr>
          <p:cNvPr id="3" name="Rectangle 2"/>
          <p:cNvSpPr/>
          <p:nvPr/>
        </p:nvSpPr>
        <p:spPr>
          <a:xfrm>
            <a:off x="640080" y="566928"/>
            <a:ext cx="1005840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Verified background — nothing invented</a:t>
            </a:r>
          </a:p>
        </p:txBody>
      </p:sp>
      <p:sp>
        <p:nvSpPr>
          <p:cNvPr id="4" name="Rectangle 3"/>
          <p:cNvSpPr/>
          <p:nvPr/>
        </p:nvSpPr>
        <p:spPr>
          <a:xfrm>
            <a:off x="640080" y="1572768"/>
            <a:ext cx="1463040" cy="64008"/>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16 / 17</a:t>
            </a:r>
          </a:p>
        </p:txBody>
      </p:sp>
      <p:sp>
        <p:nvSpPr>
          <p:cNvPr id="6" name="Rounded Rectangle 5"/>
          <p:cNvSpPr/>
          <p:nvPr/>
        </p:nvSpPr>
        <p:spPr>
          <a:xfrm>
            <a:off x="640080" y="2011680"/>
            <a:ext cx="10881360" cy="91440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5+ years progressive hands-on IT experience —  </a:t>
            </a:r>
            <a:r>
              <a:rPr sz="1600" b="0">
                <a:solidFill>
                  <a:srgbClr val="FFFFFF"/>
                </a:solidFill>
                <a:latin typeface="Arial"/>
              </a:rPr>
              <a:t>including Data Vimenca, IT Operations Engineer II / IT Support Engineer II (contract, remote), Aug 2021 – Apr 2026.</a:t>
            </a:r>
          </a:p>
        </p:txBody>
      </p:sp>
      <p:sp>
        <p:nvSpPr>
          <p:cNvPr id="7" name="Rectangle 6"/>
          <p:cNvSpPr/>
          <p:nvPr/>
        </p:nvSpPr>
        <p:spPr>
          <a:xfrm>
            <a:off x="640080" y="2011680"/>
            <a:ext cx="82296" cy="91440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3035808"/>
            <a:ext cx="10881360" cy="91440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CompTIA A+ CE —  </a:t>
            </a:r>
            <a:r>
              <a:rPr sz="1600" b="0">
                <a:solidFill>
                  <a:srgbClr val="FFFFFF"/>
                </a:solidFill>
                <a:latin typeface="Arial"/>
              </a:rPr>
              <a:t>certified, valid through April 30, 2027.</a:t>
            </a:r>
          </a:p>
        </p:txBody>
      </p:sp>
      <p:sp>
        <p:nvSpPr>
          <p:cNvPr id="9" name="Rectangle 8"/>
          <p:cNvSpPr/>
          <p:nvPr/>
        </p:nvSpPr>
        <p:spPr>
          <a:xfrm>
            <a:off x="640080" y="3035808"/>
            <a:ext cx="82296" cy="914400"/>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4059936"/>
            <a:ext cx="10881360" cy="91440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Mixed-OS fluency —  </a:t>
            </a:r>
            <a:r>
              <a:rPr sz="1600" b="0">
                <a:solidFill>
                  <a:srgbClr val="FFFFFF"/>
                </a:solidFill>
                <a:latin typeface="Arial"/>
              </a:rPr>
              <a:t>Windows / Mac / Linux / Windows Server; PowerShell + Bash automation and scripting.</a:t>
            </a:r>
          </a:p>
        </p:txBody>
      </p:sp>
      <p:sp>
        <p:nvSpPr>
          <p:cNvPr id="11" name="Rectangle 10"/>
          <p:cNvSpPr/>
          <p:nvPr/>
        </p:nvSpPr>
        <p:spPr>
          <a:xfrm>
            <a:off x="640080" y="4059936"/>
            <a:ext cx="82296" cy="914400"/>
          </a:xfrm>
          <a:prstGeom prst="rect">
            <a:avLst/>
          </a:prstGeom>
          <a:solidFill>
            <a:srgbClr val="FFE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5084064"/>
            <a:ext cx="10881360" cy="914400"/>
          </a:xfrm>
          <a:prstGeom prst="roundRect">
            <a:avLst>
              <a:gd name="adj" fmla="val 8000"/>
            </a:avLst>
          </a:prstGeom>
          <a:solidFill>
            <a:srgbClr val="32373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164592" tIns="73152" bIns="73152"/>
          <a:lstStyle/>
          <a:p>
            <a:pPr algn="ctr"/>
            <a:r>
              <a:rPr sz="1600" b="1">
                <a:solidFill>
                  <a:srgbClr val="FFFFFF"/>
                </a:solidFill>
                <a:latin typeface="Arial"/>
              </a:rPr>
              <a:t>Hands-on builder —  </a:t>
            </a:r>
            <a:r>
              <a:rPr sz="1600" b="0">
                <a:solidFill>
                  <a:srgbClr val="FFFFFF"/>
                </a:solidFill>
                <a:latin typeface="Arial"/>
              </a:rPr>
              <a:t>I design, build, and operate production-grade infrastructure in my own independent lab — the discipline behind this deck's architecture.</a:t>
            </a:r>
          </a:p>
        </p:txBody>
      </p:sp>
      <p:sp>
        <p:nvSpPr>
          <p:cNvPr id="13" name="Rectangle 12"/>
          <p:cNvSpPr/>
          <p:nvPr/>
        </p:nvSpPr>
        <p:spPr>
          <a:xfrm>
            <a:off x="640080" y="5084064"/>
            <a:ext cx="82296" cy="914400"/>
          </a:xfrm>
          <a:prstGeom prst="rect">
            <a:avLst/>
          </a:prstGeom>
          <a:solidFill>
            <a:srgbClr val="5AC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6080760"/>
            <a:ext cx="1042416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400" b="0">
                <a:solidFill>
                  <a:srgbClr val="B8BEC4"/>
                </a:solidFill>
                <a:latin typeface="Arial"/>
              </a:defRPr>
            </a:pPr>
            <a:r>
              <a:t>Full work history and references available in my résumé packet.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3282E"/>
        </a:solidFill>
        <a:effectLst/>
      </p:bgPr>
    </p:bg>
    <p:spTree>
      <p:nvGrpSpPr>
        <p:cNvPr id="1" name=""/>
        <p:cNvGrpSpPr/>
        <p:nvPr/>
      </p:nvGrpSpPr>
      <p:grpSpPr/>
      <p:sp>
        <p:nvSpPr>
          <p:cNvPr id="2" name="Rounded Rectangle 1"/>
          <p:cNvSpPr/>
          <p:nvPr/>
        </p:nvSpPr>
        <p:spPr>
          <a:xfrm>
            <a:off x="9646920" y="256032"/>
            <a:ext cx="1920240" cy="96012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terstitium-sigil.png"/>
          <p:cNvPicPr>
            <a:picLocks noChangeAspect="1"/>
          </p:cNvPicPr>
          <p:nvPr/>
        </p:nvPicPr>
        <p:blipFill>
          <a:blip r:embed="rId2"/>
          <a:stretch>
            <a:fillRect/>
          </a:stretch>
        </p:blipFill>
        <p:spPr>
          <a:xfrm>
            <a:off x="9738360" y="329184"/>
            <a:ext cx="1737360" cy="813816"/>
          </a:xfrm>
          <a:prstGeom prst="rect">
            <a:avLst/>
          </a:prstGeom>
        </p:spPr>
      </p:pic>
      <p:pic>
        <p:nvPicPr>
          <p:cNvPr id="4" name="Picture 3" descr="profile_circle.png"/>
          <p:cNvPicPr>
            <a:picLocks noChangeAspect="1"/>
          </p:cNvPicPr>
          <p:nvPr/>
        </p:nvPicPr>
        <p:blipFill>
          <a:blip r:embed="rId3"/>
          <a:stretch>
            <a:fillRect/>
          </a:stretch>
        </p:blipFill>
        <p:spPr>
          <a:xfrm>
            <a:off x="822960" y="1463040"/>
            <a:ext cx="2011680" cy="2011680"/>
          </a:xfrm>
          <a:prstGeom prst="rect">
            <a:avLst/>
          </a:prstGeom>
        </p:spPr>
      </p:pic>
      <p:sp>
        <p:nvSpPr>
          <p:cNvPr id="5" name="Oval 4"/>
          <p:cNvSpPr/>
          <p:nvPr/>
        </p:nvSpPr>
        <p:spPr>
          <a:xfrm>
            <a:off x="786384" y="1426464"/>
            <a:ext cx="2084831" cy="2084831"/>
          </a:xfrm>
          <a:prstGeom prst="ellipse">
            <a:avLst/>
          </a:prstGeom>
          <a:noFill/>
          <a:ln w="50800">
            <a:solidFill>
              <a:srgbClr val="5A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igil_il.png"/>
          <p:cNvPicPr>
            <a:picLocks noChangeAspect="1"/>
          </p:cNvPicPr>
          <p:nvPr/>
        </p:nvPicPr>
        <p:blipFill>
          <a:blip r:embed="rId4"/>
          <a:stretch>
            <a:fillRect/>
          </a:stretch>
        </p:blipFill>
        <p:spPr>
          <a:xfrm>
            <a:off x="822960" y="5504688"/>
            <a:ext cx="566928" cy="566928"/>
          </a:xfrm>
          <a:prstGeom prst="rect">
            <a:avLst/>
          </a:prstGeom>
        </p:spPr>
      </p:pic>
      <p:sp>
        <p:nvSpPr>
          <p:cNvPr id="7" name="Rectangle 6"/>
          <p:cNvSpPr/>
          <p:nvPr/>
        </p:nvSpPr>
        <p:spPr>
          <a:xfrm>
            <a:off x="502920" y="6108192"/>
            <a:ext cx="26517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000" b="0">
                <a:solidFill>
                  <a:srgbClr val="B8BEC4"/>
                </a:solidFill>
                <a:latin typeface="Arial"/>
              </a:defRPr>
            </a:pPr>
            <a:r>
              <a:t>Created by Interstitium Labs</a:t>
            </a:r>
          </a:p>
        </p:txBody>
      </p:sp>
      <p:sp>
        <p:nvSpPr>
          <p:cNvPr id="8" name="Rectangle 7"/>
          <p:cNvSpPr/>
          <p:nvPr/>
        </p:nvSpPr>
        <p:spPr>
          <a:xfrm>
            <a:off x="3291840" y="1554480"/>
            <a:ext cx="7863840" cy="1097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Bef>
                <a:spcPts val="0"/>
              </a:spcBef>
              <a:spcAft>
                <a:spcPts val="200"/>
              </a:spcAft>
              <a:defRPr sz="4000" b="1">
                <a:solidFill>
                  <a:srgbClr val="FFFFFF"/>
                </a:solidFill>
                <a:latin typeface="Arial"/>
              </a:defRPr>
            </a:pPr>
            <a:r>
              <a:t>Thank you — I want to earn this.</a:t>
            </a:r>
          </a:p>
        </p:txBody>
      </p:sp>
      <p:sp>
        <p:nvSpPr>
          <p:cNvPr id="9" name="Rectangle 8"/>
          <p:cNvSpPr/>
          <p:nvPr/>
        </p:nvSpPr>
        <p:spPr>
          <a:xfrm>
            <a:off x="3291840" y="2606040"/>
            <a:ext cx="786384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2000" b="1">
                <a:solidFill>
                  <a:srgbClr val="5AC4B2"/>
                </a:solidFill>
                <a:latin typeface="Arial"/>
              </a:defRPr>
            </a:pPr>
            <a:r>
              <a:t>Enmanuel D. Mejia</a:t>
            </a:r>
          </a:p>
        </p:txBody>
      </p:sp>
      <p:sp>
        <p:nvSpPr>
          <p:cNvPr id="10" name="Rectangle 9"/>
          <p:cNvSpPr/>
          <p:nvPr/>
        </p:nvSpPr>
        <p:spPr>
          <a:xfrm>
            <a:off x="3291840" y="3246120"/>
            <a:ext cx="786384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700" b="0">
                <a:solidFill>
                  <a:srgbClr val="FFFFFF"/>
                </a:solidFill>
                <a:latin typeface="Arial"/>
              </a:defRPr>
            </a:pPr>
            <a:r>
              <a:t>mejiaenmanueld@gmail.com</a:t>
            </a:r>
          </a:p>
        </p:txBody>
      </p:sp>
      <p:sp>
        <p:nvSpPr>
          <p:cNvPr id="11" name="Rectangle 10"/>
          <p:cNvSpPr/>
          <p:nvPr/>
        </p:nvSpPr>
        <p:spPr>
          <a:xfrm>
            <a:off x="3291840" y="3630168"/>
            <a:ext cx="786384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700" b="0">
                <a:solidFill>
                  <a:srgbClr val="FFFFFF"/>
                </a:solidFill>
                <a:latin typeface="Arial"/>
              </a:defRPr>
            </a:pPr>
            <a:r>
              <a:t>(617) 299-0781</a:t>
            </a:r>
          </a:p>
        </p:txBody>
      </p:sp>
      <p:sp>
        <p:nvSpPr>
          <p:cNvPr id="12" name="Rectangle 11"/>
          <p:cNvSpPr/>
          <p:nvPr/>
        </p:nvSpPr>
        <p:spPr>
          <a:xfrm>
            <a:off x="3291840" y="4014215"/>
            <a:ext cx="786384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700" b="0">
                <a:solidFill>
                  <a:srgbClr val="FFFFFF"/>
                </a:solidFill>
                <a:latin typeface="Arial"/>
              </a:defRPr>
            </a:pPr>
            <a:r>
              <a:t>enmanueldmejia.com</a:t>
            </a:r>
          </a:p>
        </p:txBody>
      </p:sp>
      <p:sp>
        <p:nvSpPr>
          <p:cNvPr id="13" name="Rectangle 12"/>
          <p:cNvSpPr/>
          <p:nvPr/>
        </p:nvSpPr>
        <p:spPr>
          <a:xfrm>
            <a:off x="3291840" y="4398264"/>
            <a:ext cx="786384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700" b="0">
                <a:solidFill>
                  <a:srgbClr val="FFFFFF"/>
                </a:solidFill>
                <a:latin typeface="Arial"/>
              </a:defRPr>
            </a:pPr>
            <a:r>
              <a:t>github.com/EnmanuelMejia</a:t>
            </a:r>
          </a:p>
        </p:txBody>
      </p:sp>
      <p:sp>
        <p:nvSpPr>
          <p:cNvPr id="14" name="Rectangle 13"/>
          <p:cNvSpPr/>
          <p:nvPr/>
        </p:nvSpPr>
        <p:spPr>
          <a:xfrm>
            <a:off x="3291840" y="4782312"/>
            <a:ext cx="786384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700" b="0">
                <a:solidFill>
                  <a:srgbClr val="FFFFFF"/>
                </a:solidFill>
                <a:latin typeface="Arial"/>
              </a:defRPr>
            </a:pPr>
            <a:r>
              <a:t>interstitiumlabs.dev</a:t>
            </a:r>
          </a:p>
        </p:txBody>
      </p:sp>
      <p:sp>
        <p:nvSpPr>
          <p:cNvPr id="15" name="Rectangle 14"/>
          <p:cNvSpPr/>
          <p:nvPr/>
        </p:nvSpPr>
        <p:spPr>
          <a:xfrm>
            <a:off x="3291840" y="5166359"/>
            <a:ext cx="786384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700" b="0">
                <a:solidFill>
                  <a:srgbClr val="FFFFFF"/>
                </a:solidFill>
                <a:latin typeface="Arial"/>
              </a:defRPr>
            </a:pPr>
            <a:r>
              <a:rPr/>
              <a:t>linkedin.com/in/enmanuelmejia</a:t>
            </a:r>
          </a:p>
        </p:txBody>
      </p:sp>
      <p:sp>
        <p:nvSpPr>
          <p:cNvPr id="16" name="Rectangle 15"/>
          <p:cNvSpPr/>
          <p:nvPr/>
        </p:nvSpPr>
        <p:spPr>
          <a:xfrm>
            <a:off x="3291840" y="5806440"/>
            <a:ext cx="1463040" cy="64008"/>
          </a:xfrm>
          <a:prstGeom prst="rect">
            <a:avLst/>
          </a:prstGeom>
          <a:solidFill>
            <a:srgbClr val="F5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5989320"/>
            <a:ext cx="786384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defRPr sz="1500" b="1">
                <a:solidFill>
                  <a:srgbClr val="FFE716"/>
                </a:solidFill>
                <a:latin typeface="Arial"/>
              </a:defRPr>
            </a:pPr>
            <a:r>
              <a:t>Looking forward to seeing the floor on Friday.</a:t>
            </a:r>
          </a:p>
        </p:txBody>
      </p:sp>
      <p:sp>
        <p:nvSpPr>
          <p:cNvPr id="18" name="Rectangle 17"/>
          <p:cNvSpPr/>
          <p:nvPr/>
        </p:nvSpPr>
        <p:spPr>
          <a:xfrm>
            <a:off x="11292840" y="6419088"/>
            <a:ext cx="6400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Bef>
                <a:spcPts val="0"/>
              </a:spcBef>
              <a:spcAft>
                <a:spcPts val="200"/>
              </a:spcAft>
              <a:defRPr sz="1100" b="0">
                <a:solidFill>
                  <a:srgbClr val="B8BEC4"/>
                </a:solidFill>
                <a:latin typeface="Arial"/>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